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profesional en español del proyecto 7AYchain, basada en auditoría del repositorio. Refleja el estado real del código en la rama test/mock-smdp-devnet y el pivote estratégico a v0.9.7 Native Carrier Devnet.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introducción. Establece la tesis: 7AYchain es la capa de confianza que decide los hechos críticos de un operador móvil, mientras que el stack telco (LTE/5G/IMS) provee el servicio. Esto distingue al proyecto de un L1 genérico DePIN o de un L1 'telco' que pretende reemplazar el 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Contextualiza el problema. El operador móvil tradicional concentra control en una entidad central que decide identidad, número, asignación y portabilidad. SIM swap es solo un síntoma. Detrás está la falta de un plano de control verificable y abierto.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Definición concisa. 7AYchain es Substrate L1 + Proof of Presence + capa de aplicación telco. Énfasis en la propiedad distintiva: presencia medida entre peers, no asumida desde GPS o un oráculo. Esto la hace adecuada como plano de control de un operador descentralizado.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central del protocolo. PoP es una máquina de estados monótona (INV7). Slashing es terminal (INV8). Las técnicas listadas son las que hacen que PoP sea resistente a ataques de replay, doble-presencia y triangulación falsificada.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Pivote estratégico. Explicar que NO es un giro caprichoso: el spec del release lo declara explícitamente, y el código ya está reconciliado (workspace, runtime, RPC, primitives). PoP no se abandona — se especializa como plano de control telco.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pallets reales en el repositorio, no los 16 que documenta CLAUDE.md (esa doc tiene drift). La capa Protocolo es el núcleo de consenso. La capa Identidad/Servicio es donde vive pallet-carrier — el nuevo centro de gravedad. Infraestructura provee servicios criptográficos compartidos.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Vista resumida de los 12 pallets. La columna 'Invariantes' indica el rango asignado en CLAUDE.md cuando existe; los pallets nuevos o reservados (carrier, dispute) aún no tienen mapeo numérico formal. Las LOC son aproximadas y excluyen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pallet-carrier es el centro de gravedad de v0.9.7. No es un placeholder: tiene 15 extrínsecos reales, 947 LOC de tests y storage versionada en 4. Implementa toda la máquina de estados del número (Reserved→…→Revoked) y el ciclo de vida del service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Máquina de estados extraída literalmente del enum NumberStatus en pallets/carrier/src/lib.rs. Todas las transiciones son monótonas excepto Revoked, que es terminal. La transición Activated requiere quórum de witnesses (Local Witness Quorum según la regla canónica de attach).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Regla canónica copiada del release spec v0.9.7. Cada uno de los 6 componentes corresponde a un check on-chain en pallet-carrier o pallets dependientes. Si cualquier componente falla, el bridge debe rechazar el attach. Esta regla es lo que hace que el plano de control sea consensuado y no centralizado.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 criptográfica actual tras el scope-reduction de v0.9.7. Se removieron los ZK genéricos (Groth16, Bulletproofs, 14 circuitos) — pueden volver en una iteración futura. Lo que queda es robusto y suficiente para el plano de control telco.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Flujo extraído del documento de arquitectura v0.9.7. Los primeros 6 pasos son on-chain. Los 3 finales son off-chain — el bridge traduce el estado on-chain en attach authorization, y el mobile core ejecuta. El handset solo ve servicio nativo, sin app especial.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bridge es el componente off-chain que conecta 7AYchain con el stack telecom. No es trust-critical en sí mismo: solo traduce. La trust-critical truth vive on-chain. El devnet actual usa Asterisk + SM-DP+ mock para probar el flujo end-to-end con dispositivos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6 ventajas competitivas reales del proyecto. Diferencia entre 'lo que muchos blockchains DePIN prometen' y 'lo que 7AYchain efectivamente hace en código hoy'. La compatibilidad con stacks existentes es clave — no requiere reescribir todo el ecosistema telco.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Cuatro audiencias claras. La narrativa de 'identidad portable' es probablemente el angle más diferenciador para mercados emergentes y zonas de conflicto. MVNOs comunitarios y cobertura rural son los casos de uso técnicos más maduros.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Subset de las 78+ invariantes. Cada categoría agrupa propiedades formales que el código debe satisfacer en cualquier ejecución. Los tests del workspace verifican estas invariantes explícitamente (no son solo comentarios). Pendientes: catalogación formal de invariantes nuevas para pallet-carrier.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Guía operativa para validators. La curva de stake/slash es diseñada para que el coste de un ataque económicamente racional sea &gt; la recompensa de presencia falsificada. Los evidence rewards son el incentivo para reportar fraude.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Guía para developers. El flujo de tres comandos (clone, build, dev) es realista. El devnet telecom es opcional pero necesario si se quiere reproducir el end-to-end con un handset. Las superficies de integración cubren tanto clientes ligeros (CLI, polkadot.js) como integraciones serias (subxt, off-chain workers).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Operador playbook. La clave: el bridge nunca decide nada por sí mismo; solo refleja estado. Si el bridge cae, el mobile core debe degradar de forma segura (deny por defecto) hasta que el bridge vuelva. Producción exige SM-DP+ certificado GSMA — el devnet usa un mock.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Seis casos de uso que cubren el espectro: telco comunitaria, cobertura rural, identidad portable, IoT, anti-fraude, soberanía. Cada uno apalanca distintas combinaciones del stack — algunos solo necesitan PoP + carrier, otros activan vault/lifecycle.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real basado en branches existentes y el spec v0.9.7. Notar que v0.9.4 y v0.9.6 son slots reservados (no se asume que existirán). v2.0 contempla la reintroducción de los ZK proofs que se retiraron en v0.9.7 — el código está en git history disponible.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 of Done copiada del release spec v0.9.7. Es lo que permite decir 'el release está completo'. Notar el énfasis en 'handset real' y 'flujo reproducible': no basta con un demo cherry-picked.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cierre. Mensaje de marca: 'presencia verificable + servicio telco descentralizado'. Los enlaces apuntan al repo, web institucional, spec v0.9.7 y licencia. Mantener concisión: el call-to-action implícito es 'explorar el repo'.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45720" cy="6858000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>
                <a:solidFill>
                  <a:srgbClr val="F8F9FA"/>
                </a:solidFill>
                <a:latin typeface="Calibri"/>
              </a:rPr>
              <a:t>7AYchain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F77F00"/>
                </a:solidFill>
                <a:latin typeface="Calibri"/>
              </a:rPr>
              <a:t>El plano de control descentralizado del operador móvil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2D0"/>
                </a:solidFill>
                <a:latin typeface="Calibri"/>
              </a:rPr>
              <a:t>Una Layer 1 Substrate con Proof of Presence como primitiva de consenso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3474720" cy="50292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370832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6A77D"/>
                </a:solidFill>
                <a:latin typeface="Calibri"/>
              </a:rPr>
              <a:t>v0.9.7 · NATIVE CARRIER DEVNET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  <a:latin typeface="Calibri"/>
              </a:rPr>
              <a:t>7ay Labs · Junio 2026 · BUSL-1.1 · Polkadot SDK stable2503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943600"/>
            <a:ext cx="2743200" cy="36576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7F00"/>
                </a:solidFill>
                <a:latin typeface="Calibri"/>
              </a:rPr>
              <a:t>RESUMEN EJECUTIVO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9FA"/>
                </a:solidFill>
                <a:latin typeface="Calibri"/>
              </a:rPr>
              <a:t>¿Qué es y por qué importa?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2D0"/>
                </a:solidFill>
                <a:latin typeface="Calibri"/>
              </a:rPr>
              <a:t>Una blockchain L1 que decide los hechos críticos de un operador móvil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635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7AYchain · Proof of Presence L1 · v0.9.7 Native Carrier Devnet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02 /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011680"/>
            <a:ext cx="73152" cy="96012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9339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Calibri"/>
              </a:rPr>
              <a:t>L1 Substrate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7744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C2D0"/>
                </a:solidFill>
                <a:latin typeface="Calibri"/>
              </a:rPr>
              <a:t>polkadot-stable2503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6704" y="182880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83864" y="2011680"/>
            <a:ext cx="73152" cy="960120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6744" y="199339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Calibri"/>
              </a:rPr>
              <a:t>12 Pallets 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6744" y="237744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C2D0"/>
                </a:solidFill>
                <a:latin typeface="Calibri"/>
              </a:rPr>
              <a:t>~120 extrínsecos on-chain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82880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1928" y="2011680"/>
            <a:ext cx="73152" cy="96012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199339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Calibri"/>
              </a:rPr>
              <a:t>78+ Invariantes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37744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C2D0"/>
                </a:solidFill>
                <a:latin typeface="Calibri"/>
              </a:rPr>
              <a:t>Garantías formales codificadas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42832" y="182880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79992" y="2011680"/>
            <a:ext cx="73152" cy="96012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2872" y="199339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Calibri"/>
              </a:rPr>
              <a:t>PoP + MVNO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237744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C2D0"/>
                </a:solidFill>
                <a:latin typeface="Calibri"/>
              </a:rPr>
              <a:t>Consenso de presencia → autoridad telco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5204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7F00"/>
                </a:solidFill>
                <a:latin typeface="Calibri"/>
              </a:rPr>
              <a:t>Tesis del proyecto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886200"/>
            <a:ext cx="11091672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77F00"/>
                </a:solidFill>
                <a:latin typeface="Calibri"/>
              </a:rPr>
              <a:t>■  </a:t>
            </a:r>
            <a:r>
              <a:rPr sz="1300" b="1">
                <a:solidFill>
                  <a:srgbClr val="F8F9FA"/>
                </a:solidFill>
                <a:latin typeface="Calibri"/>
              </a:rPr>
              <a:t>Proof of Presence (PoP):</a:t>
            </a:r>
            <a:r>
              <a:rPr sz="1300">
                <a:solidFill>
                  <a:srgbClr val="B8C2D0"/>
                </a:solidFill>
                <a:latin typeface="Calibri"/>
              </a:rPr>
              <a:t>  verifica si un actor está realmente presente, sin GPS ni oráculos externos. Validadores forman círculos de testigos y triangulan por latencia de red.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77F00"/>
                </a:solidFill>
                <a:latin typeface="Calibri"/>
              </a:rPr>
              <a:t>■  </a:t>
            </a:r>
            <a:r>
              <a:rPr sz="1300" b="1">
                <a:solidFill>
                  <a:srgbClr val="F8F9FA"/>
                </a:solidFill>
                <a:latin typeface="Calibri"/>
              </a:rPr>
              <a:t>Plano de control telco:</a:t>
            </a:r>
            <a:r>
              <a:rPr sz="1300">
                <a:solidFill>
                  <a:srgbClr val="B8C2D0"/>
                </a:solidFill>
                <a:latin typeface="Calibri"/>
              </a:rPr>
              <a:t>  7AYchain decide quién es subscriber válido, qué dispositivo está autorizado, qué número se asigna y si la rotación de SIM/eSIM es legítima.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77F00"/>
                </a:solidFill>
                <a:latin typeface="Calibri"/>
              </a:rPr>
              <a:t>■  </a:t>
            </a:r>
            <a:r>
              <a:rPr sz="1300" b="1">
                <a:solidFill>
                  <a:srgbClr val="F8F9FA"/>
                </a:solidFill>
                <a:latin typeface="Calibri"/>
              </a:rPr>
              <a:t>No reemplaza LTE/5G:</a:t>
            </a:r>
            <a:r>
              <a:rPr sz="1300">
                <a:solidFill>
                  <a:srgbClr val="B8C2D0"/>
                </a:solidFill>
                <a:latin typeface="Calibri"/>
              </a:rPr>
              <a:t>  se integra con el mobile core a través de un bridge que traduce el estado on-chain en attach authorization.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77F00"/>
                </a:solidFill>
                <a:latin typeface="Calibri"/>
              </a:rPr>
              <a:t>■  </a:t>
            </a:r>
            <a:r>
              <a:rPr sz="1300" b="1">
                <a:solidFill>
                  <a:srgbClr val="F8F9FA"/>
                </a:solidFill>
                <a:latin typeface="Calibri"/>
              </a:rPr>
              <a:t>Foco DePIN telecom:</a:t>
            </a:r>
            <a:r>
              <a:rPr sz="1300">
                <a:solidFill>
                  <a:srgbClr val="B8C2D0"/>
                </a:solidFill>
                <a:latin typeface="Calibri"/>
              </a:rPr>
              <a:t>  habilita MVNOs descentralizados, comunidades de cobertura y portabilidad real cross-region.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7F00"/>
                </a:solidFill>
                <a:latin typeface="Calibri"/>
              </a:rPr>
              <a:t>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9FA"/>
                </a:solidFill>
                <a:latin typeface="Calibri"/>
              </a:rPr>
              <a:t>La telco actual es centralizada y frágil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635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7AYchain · Proof of Presence L1 · v0.9.7 Native Carrier Devnet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03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Calibri"/>
              </a:rPr>
              <a:t>Fallos estructurales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EF4444"/>
                </a:solidFill>
                <a:latin typeface="Calibri"/>
              </a:rPr>
              <a:t>■  </a:t>
            </a:r>
            <a:r>
              <a:rPr sz="1200" b="1">
                <a:solidFill>
                  <a:srgbClr val="F8F9FA"/>
                </a:solidFill>
                <a:latin typeface="Calibri"/>
              </a:rPr>
              <a:t>SIM swap y secuestro de número:</a:t>
            </a:r>
            <a:r>
              <a:rPr sz="1200">
                <a:solidFill>
                  <a:srgbClr val="B8C2D0"/>
                </a:solidFill>
                <a:latin typeface="Calibri"/>
              </a:rPr>
              <a:t>  el operador es el único punto de verdad y un soporte comprometido es suficiente.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EF4444"/>
                </a:solidFill>
                <a:latin typeface="Calibri"/>
              </a:rPr>
              <a:t>■  </a:t>
            </a:r>
            <a:r>
              <a:rPr sz="1200" b="1">
                <a:solidFill>
                  <a:srgbClr val="F8F9FA"/>
                </a:solidFill>
                <a:latin typeface="Calibri"/>
              </a:rPr>
              <a:t>Identidad telco no portable:</a:t>
            </a:r>
            <a:r>
              <a:rPr sz="1200">
                <a:solidFill>
                  <a:srgbClr val="B8C2D0"/>
                </a:solidFill>
                <a:latin typeface="Calibri"/>
              </a:rPr>
              <a:t>  cambiar de operador o de país rompe la identidad del subscriber.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EF4444"/>
                </a:solidFill>
                <a:latin typeface="Calibri"/>
              </a:rPr>
              <a:t>■  </a:t>
            </a:r>
            <a:r>
              <a:rPr sz="1200" b="1">
                <a:solidFill>
                  <a:srgbClr val="F8F9FA"/>
                </a:solidFill>
                <a:latin typeface="Calibri"/>
              </a:rPr>
              <a:t>Roaming caro y opaco:</a:t>
            </a:r>
            <a:r>
              <a:rPr sz="1200">
                <a:solidFill>
                  <a:srgbClr val="B8C2D0"/>
                </a:solidFill>
                <a:latin typeface="Calibri"/>
              </a:rPr>
              <a:t>  tarifas dictadas por contratos bilaterales, sin transparencia para el usuario.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EF4444"/>
                </a:solidFill>
                <a:latin typeface="Calibri"/>
              </a:rPr>
              <a:t>■  </a:t>
            </a:r>
            <a:r>
              <a:rPr sz="1200" b="1">
                <a:solidFill>
                  <a:srgbClr val="F8F9FA"/>
                </a:solidFill>
                <a:latin typeface="Calibri"/>
              </a:rPr>
              <a:t>Cobertura inequitativa:</a:t>
            </a:r>
            <a:r>
              <a:rPr sz="1200">
                <a:solidFill>
                  <a:srgbClr val="B8C2D0"/>
                </a:solidFill>
                <a:latin typeface="Calibri"/>
              </a:rPr>
              <a:t>  zonas rurales y comunidades marginadas quedan sin operador viable.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EF4444"/>
                </a:solidFill>
                <a:latin typeface="Calibri"/>
              </a:rPr>
              <a:t>■  </a:t>
            </a:r>
            <a:r>
              <a:rPr sz="1200" b="1">
                <a:solidFill>
                  <a:srgbClr val="F8F9FA"/>
                </a:solidFill>
                <a:latin typeface="Calibri"/>
              </a:rPr>
              <a:t>Sin plano de control abierto:</a:t>
            </a:r>
            <a:r>
              <a:rPr sz="1200">
                <a:solidFill>
                  <a:srgbClr val="B8C2D0"/>
                </a:solidFill>
                <a:latin typeface="Calibri"/>
              </a:rPr>
              <a:t>  no existe una forma verificable de auditar atribución, asignación o portabilidad de números.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5212080" cy="429768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91440" cy="4297680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0116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6A77D"/>
                </a:solidFill>
                <a:latin typeface="Calibri"/>
              </a:rPr>
              <a:t>La oportunidad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68880"/>
            <a:ext cx="484632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2D0"/>
                </a:solidFill>
                <a:latin typeface="Calibri"/>
              </a:rPr>
              <a:t>Existe un hueco entre las blockchains DePIN, que tokenizan infraestructura, y los MVNOs tradicionales, que dependen de contratos con operadores incumbentes.
7AYchain ocupa ese hueco: provee un plano de control descentralizado, verificable y compatible con stacks telco existentes (Asterisk, Kamailio, IMS, eSIM SM-DP+), de modo que una comunidad u operador local pueda autorizar servicio sin depender del incumbent ni de un oráculo central.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7F00"/>
                </a:solidFill>
                <a:latin typeface="Calibri"/>
              </a:rPr>
              <a:t>DEFINICIÓN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9FA"/>
                </a:solidFill>
                <a:latin typeface="Calibri"/>
              </a:rPr>
              <a:t>¿Qué es 7AYchain?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2D0"/>
                </a:solidFill>
                <a:latin typeface="Calibri"/>
              </a:rPr>
              <a:t>Una Layer 1 Substrate que responde una sola pregunta: ¿está este actor realmente aquí?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635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7AYchain · Proof of Presence L1 · v0.9.7 Native Carrier Devnet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04 /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09728" cy="91440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476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Calibri"/>
              </a:rPr>
              <a:t>Capa de Aplicación / Bridge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2D0"/>
                </a:solidFill>
                <a:latin typeface="Calibri"/>
              </a:rPr>
              <a:t>Operador móvil descentralizado · MVNO · eSIM · Portabilidad · Recovery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803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880360"/>
            <a:ext cx="109728" cy="914400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9923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Calibri"/>
              </a:rPr>
              <a:t>Capa de Consenso de Presencia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37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2D0"/>
                </a:solidFill>
                <a:latin typeface="Calibri"/>
              </a:rPr>
              <a:t>Validators · Witness Circles · Triangulación · Quorum · Epochs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3192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931920"/>
            <a:ext cx="109728" cy="91440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507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Calibri"/>
              </a:rPr>
              <a:t>Capa Criptográfica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89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2D0"/>
                </a:solidFill>
                <a:latin typeface="Calibri"/>
              </a:rPr>
              <a:t>Blake2-256 + SHA-256 · Pedersen · Shamir GF(2⁸) · Schnorr · Merkle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120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77F00"/>
                </a:solidFill>
                <a:latin typeface="Calibri"/>
              </a:rPr>
              <a:t>Tres principios fundacionales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77840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2D0"/>
                </a:solidFill>
                <a:latin typeface="Calibri"/>
              </a:rPr>
              <a:t>(1) Sin GPS ni oráculos externos — la presencia se mide entre peers   ·   (2) Estado finalizado por quórum de validadores   ·   (3) Cada hecho es verificable on-chain con dominio criptográfico separado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7F00"/>
                </a:solidFill>
                <a:latin typeface="Calibri"/>
              </a:rPr>
              <a:t>NÚCLEO DEL PROTOCOLO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9FA"/>
                </a:solidFill>
                <a:latin typeface="Calibri"/>
              </a:rPr>
              <a:t>Proof of Presence (PoP)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2D0"/>
                </a:solidFill>
                <a:latin typeface="Calibri"/>
              </a:rPr>
              <a:t>El ciclo de vida verificable de una declaración de presencia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635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7AYchain · Proof of Presence L1 · v0.9.7 Native Carrier Devnet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05 /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11680"/>
            <a:ext cx="2606040" cy="9144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77F00"/>
                </a:solidFill>
                <a:latin typeface="Calibri"/>
              </a:rPr>
              <a:t>Declared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C2D0"/>
                </a:solidFill>
                <a:latin typeface="Calibri"/>
              </a:rPr>
              <a:t>El actor declara presencia en una epoch activa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08960" y="2788920"/>
            <a:ext cx="274320" cy="274320"/>
          </a:xfrm>
          <a:prstGeom prst="rightArrow">
            <a:avLst/>
          </a:prstGeom>
          <a:solidFill>
            <a:srgbClr val="6B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7560" y="201168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2011680"/>
            <a:ext cx="2606040" cy="91440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24028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A77D"/>
                </a:solidFill>
                <a:latin typeface="Calibri"/>
              </a:rPr>
              <a:t>Validated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74320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C2D0"/>
                </a:solidFill>
                <a:latin typeface="Calibri"/>
              </a:rPr>
              <a:t>Quórum de validadores firma y triangula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97880" y="2788920"/>
            <a:ext cx="274320" cy="274320"/>
          </a:xfrm>
          <a:prstGeom prst="rightArrow">
            <a:avLst/>
          </a:prstGeom>
          <a:solidFill>
            <a:srgbClr val="6B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0" y="201168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2011680"/>
            <a:ext cx="2606040" cy="914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24028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CC9F0"/>
                </a:solidFill>
                <a:latin typeface="Calibri"/>
              </a:rPr>
              <a:t>Finalized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74320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C2D0"/>
                </a:solidFill>
                <a:latin typeface="Calibri"/>
              </a:rPr>
              <a:t>Estado inmutable, ancla criptográfica en cadena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686800" y="2788920"/>
            <a:ext cx="274320" cy="274320"/>
          </a:xfrm>
          <a:prstGeom prst="rightArrow">
            <a:avLst/>
          </a:prstGeom>
          <a:solidFill>
            <a:srgbClr val="6B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15400" y="201168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15400" y="2011680"/>
            <a:ext cx="2606040" cy="914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224028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F4444"/>
                </a:solidFill>
                <a:latin typeface="Calibri"/>
              </a:rPr>
              <a:t>Slashed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74320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C2D0"/>
                </a:solidFill>
                <a:latin typeface="Calibri"/>
              </a:rPr>
              <a:t>Terminal — evidencia de violación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2062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7F00"/>
                </a:solidFill>
                <a:latin typeface="Calibri"/>
              </a:rPr>
              <a:t>Cómo se mide y se asegura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9FA"/>
                </a:solidFill>
                <a:latin typeface="Calibri"/>
              </a:rPr>
              <a:t>Triangulación RSSI/latencia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92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Cada validator mide latencia hacia peers; centroide ponderado + multilateración.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9903" y="4617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9FA"/>
                </a:solidFill>
                <a:latin typeface="Calibri"/>
              </a:rPr>
              <a:t>Nullifiers anti-doble-presencia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9903" y="4892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N = H(domain ‖ actor ‖ epoch) — una sola declaración por (actor, epoch).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39495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9FA"/>
                </a:solidFill>
                <a:latin typeface="Calibri"/>
              </a:rPr>
              <a:t>Hashing dominio-separado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669279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Blake2-256 + SHA-256 NIST con 17 dominios distintos — sin colisiones cross-context.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9903" y="539495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9FA"/>
                </a:solidFill>
                <a:latin typeface="Calibri"/>
              </a:rPr>
              <a:t>BlockRef chain binding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9903" y="5669279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Cada voto se ancla al bloque que lo originó (INV43): impide replay cross-fork.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7F00"/>
                </a:solidFill>
                <a:latin typeface="Calibri"/>
              </a:rPr>
              <a:t>PIVOTE ESTRATÉGICO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9FA"/>
                </a:solidFill>
                <a:latin typeface="Calibri"/>
              </a:rPr>
              <a:t>De DePIN genérico a operador móvil descentralizado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2D0"/>
                </a:solidFill>
                <a:latin typeface="Calibri"/>
              </a:rPr>
              <a:t>v0.9.7 redefine el alcance del proyecto sin abandonar su núcleo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635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7AYchain · Proof of Presence L1 · v0.9.7 Native Carrier Devnet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06 /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11091672" cy="1188720"/>
          </a:xfrm>
          <a:prstGeom prst="roundRect">
            <a:avLst>
              <a:gd name="adj" fmla="val 8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09728" cy="118872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659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77F00"/>
                </a:solidFill>
                <a:latin typeface="Calibri"/>
              </a:rPr>
              <a:t>Cita del release spec oficial · docs/releases/v0.9.7/README.md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24028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9FA"/>
                </a:solidFill>
                <a:latin typeface="Calibri"/>
              </a:rPr>
              <a:t>"v0.9.7 is the release that turns 7AYchain from a Proof-of-Presence DePIN chain into the control plane of a decentralized mobile carrier devnet."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A77D"/>
                </a:solidFill>
                <a:latin typeface="Calibri"/>
              </a:rPr>
              <a:t>Qué cambió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54864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06A77D"/>
                </a:solidFill>
                <a:latin typeface="Calibri"/>
              </a:rPr>
              <a:t>■  </a:t>
            </a:r>
            <a:r>
              <a:rPr sz="1200" b="1">
                <a:solidFill>
                  <a:srgbClr val="F8F9FA"/>
                </a:solidFill>
                <a:latin typeface="Calibri"/>
              </a:rPr>
              <a:t>Foco de producto:</a:t>
            </a:r>
            <a:r>
              <a:rPr sz="1200">
                <a:solidFill>
                  <a:srgbClr val="B8C2D0"/>
                </a:solidFill>
                <a:latin typeface="Calibri"/>
              </a:rPr>
              <a:t>  DePIN genérico → operador MVNO con eSIM.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6A77D"/>
                </a:solidFill>
                <a:latin typeface="Calibri"/>
              </a:rPr>
              <a:t>■  </a:t>
            </a:r>
            <a:r>
              <a:rPr sz="1200" b="1">
                <a:solidFill>
                  <a:srgbClr val="F8F9FA"/>
                </a:solidFill>
                <a:latin typeface="Calibri"/>
              </a:rPr>
              <a:t>Composición:</a:t>
            </a:r>
            <a:r>
              <a:rPr sz="1200">
                <a:solidFill>
                  <a:srgbClr val="B8C2D0"/>
                </a:solidFill>
                <a:latin typeface="Calibri"/>
              </a:rPr>
              <a:t>  16 pallets → 12 pallets; añadido pallet-carrier (1624 LOC, 15 extrínsecos).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6A77D"/>
                </a:solidFill>
                <a:latin typeface="Calibri"/>
              </a:rPr>
              <a:t>■  </a:t>
            </a:r>
            <a:r>
              <a:rPr sz="1200" b="1">
                <a:solidFill>
                  <a:srgbClr val="F8F9FA"/>
                </a:solidFill>
                <a:latin typeface="Calibri"/>
              </a:rPr>
              <a:t>Reducción de alcance:</a:t>
            </a:r>
            <a:r>
              <a:rPr sz="1200">
                <a:solidFill>
                  <a:srgbClr val="B8C2D0"/>
                </a:solidFill>
                <a:latin typeface="Calibri"/>
              </a:rPr>
              <a:t>  se retiran ZK genéricos (Groth16, Bulletproofs, 14 circuitos) — quedan para una iteración futura.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6A77D"/>
                </a:solidFill>
                <a:latin typeface="Calibri"/>
              </a:rPr>
              <a:t>■  </a:t>
            </a:r>
            <a:r>
              <a:rPr sz="1200" b="1">
                <a:solidFill>
                  <a:srgbClr val="F8F9FA"/>
                </a:solidFill>
                <a:latin typeface="Calibri"/>
              </a:rPr>
              <a:t>Devnet:</a:t>
            </a:r>
            <a:r>
              <a:rPr sz="1200">
                <a:solidFill>
                  <a:srgbClr val="B8C2D0"/>
                </a:solidFill>
                <a:latin typeface="Calibri"/>
              </a:rPr>
              <a:t>  ahora incluye stack telecom (Asterisk + SM-DP+ mock + eSIM QR).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37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Qué se mantiene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03320"/>
            <a:ext cx="52120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■  </a:t>
            </a:r>
            <a:r>
              <a:rPr sz="1200" b="1">
                <a:solidFill>
                  <a:srgbClr val="F8F9FA"/>
                </a:solidFill>
                <a:latin typeface="Calibri"/>
              </a:rPr>
              <a:t>PoP como primitiva:</a:t>
            </a:r>
            <a:r>
              <a:rPr sz="1200">
                <a:solidFill>
                  <a:srgbClr val="B8C2D0"/>
                </a:solidFill>
                <a:latin typeface="Calibri"/>
              </a:rPr>
              <a:t>  consenso de presencia sigue siendo el núcleo.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■  </a:t>
            </a:r>
            <a:r>
              <a:rPr sz="1200" b="1">
                <a:solidFill>
                  <a:srgbClr val="F8F9FA"/>
                </a:solidFill>
                <a:latin typeface="Calibri"/>
              </a:rPr>
              <a:t>Criptografía esencial:</a:t>
            </a:r>
            <a:r>
              <a:rPr sz="1200">
                <a:solidFill>
                  <a:srgbClr val="B8C2D0"/>
                </a:solidFill>
                <a:latin typeface="Calibri"/>
              </a:rPr>
              <a:t>  Blake2-256, SHA-256 NIST, Pedersen, Shamir, Schnorr, VSS, PSS.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■  </a:t>
            </a:r>
            <a:r>
              <a:rPr sz="1200" b="1">
                <a:solidFill>
                  <a:srgbClr val="F8F9FA"/>
                </a:solidFill>
                <a:latin typeface="Calibri"/>
              </a:rPr>
              <a:t>Validadores y economía:</a:t>
            </a:r>
            <a:r>
              <a:rPr sz="1200">
                <a:solidFill>
                  <a:srgbClr val="B8C2D0"/>
                </a:solidFill>
                <a:latin typeface="Calibri"/>
              </a:rPr>
              <a:t>  MIN_VALIDATORS=50, slash tiers 5-100%, evidence rewards 10%.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■  </a:t>
            </a:r>
            <a:r>
              <a:rPr sz="1200" b="1">
                <a:solidFill>
                  <a:srgbClr val="F8F9FA"/>
                </a:solidFill>
                <a:latin typeface="Calibri"/>
              </a:rPr>
              <a:t>Substrate stable2503:</a:t>
            </a:r>
            <a:r>
              <a:rPr sz="1200">
                <a:solidFill>
                  <a:srgbClr val="B8C2D0"/>
                </a:solidFill>
                <a:latin typeface="Calibri"/>
              </a:rPr>
              <a:t>  compatibilidad SDK y migraciones forward-only.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7F00"/>
                </a:solidFill>
                <a:latin typeface="Calibri"/>
              </a:rPr>
              <a:t>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9FA"/>
                </a:solidFill>
                <a:latin typeface="Calibri"/>
              </a:rPr>
              <a:t>Arquitectura por capas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2D0"/>
                </a:solidFill>
                <a:latin typeface="Calibri"/>
              </a:rPr>
              <a:t>Tres capas que separan consenso, identidad/servicio e infraestructura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635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7AYchain · Proof of Presence L1 · v0.9.7 Native Carrier Devnet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07 /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74519"/>
            <a:ext cx="3657600" cy="13716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4883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F9FA"/>
                </a:solidFill>
                <a:latin typeface="Calibri"/>
              </a:rPr>
              <a:t>Capa Protocolo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0603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77F00"/>
                </a:solidFill>
                <a:latin typeface="Calibri"/>
              </a:rPr>
              <a:t>Consenso, presencia, disputa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08959"/>
            <a:ext cx="3108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F77F00"/>
                </a:solidFill>
                <a:latin typeface="Calibri"/>
              </a:rPr>
              <a:t>■  </a:t>
            </a:r>
            <a:r>
              <a:rPr sz="1150" b="0">
                <a:solidFill>
                  <a:srgbClr val="F8F9FA"/>
                </a:solidFill>
                <a:latin typeface="Calibri"/>
              </a:rPr>
              <a:t>pallet-presence (13 extrínsecos)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F77F00"/>
                </a:solidFill>
                <a:latin typeface="Calibri"/>
              </a:rPr>
              <a:t>■  </a:t>
            </a:r>
            <a:r>
              <a:rPr sz="1150" b="0">
                <a:solidFill>
                  <a:srgbClr val="F8F9FA"/>
                </a:solidFill>
                <a:latin typeface="Calibri"/>
              </a:rPr>
              <a:t>pallet-epoch (lifecycle)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F77F00"/>
                </a:solidFill>
                <a:latin typeface="Calibri"/>
              </a:rPr>
              <a:t>■  </a:t>
            </a:r>
            <a:r>
              <a:rPr sz="1150" b="0">
                <a:solidFill>
                  <a:srgbClr val="F8F9FA"/>
                </a:solidFill>
                <a:latin typeface="Calibri"/>
              </a:rPr>
              <a:t>pallet-validator (staking, slashing)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F77F00"/>
                </a:solidFill>
                <a:latin typeface="Calibri"/>
              </a:rPr>
              <a:t>■  </a:t>
            </a:r>
            <a:r>
              <a:rPr sz="1150" b="0">
                <a:solidFill>
                  <a:srgbClr val="F8F9FA"/>
                </a:solidFill>
                <a:latin typeface="Calibri"/>
              </a:rPr>
              <a:t>pallet-dispute (resolución)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0248" y="1874519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0248" y="1874519"/>
            <a:ext cx="3657600" cy="137160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214883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F9FA"/>
                </a:solidFill>
                <a:latin typeface="Calibri"/>
              </a:rPr>
              <a:t>Capa Identidad / Servicio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60603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6A77D"/>
                </a:solidFill>
                <a:latin typeface="Calibri"/>
              </a:rPr>
              <a:t>Subscriber, número, gobernanza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108959"/>
            <a:ext cx="3108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06A77D"/>
                </a:solidFill>
                <a:latin typeface="Calibri"/>
              </a:rPr>
              <a:t>■  </a:t>
            </a:r>
            <a:r>
              <a:rPr sz="1150" b="0">
                <a:solidFill>
                  <a:srgbClr val="F8F9FA"/>
                </a:solidFill>
                <a:latin typeface="Calibri"/>
              </a:rPr>
              <a:t>pallet-carrier (15 extrínsecos · eSIM/SIM)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06A77D"/>
                </a:solidFill>
                <a:latin typeface="Calibri"/>
              </a:rPr>
              <a:t>■  </a:t>
            </a:r>
            <a:r>
              <a:rPr sz="1150" b="0">
                <a:solidFill>
                  <a:srgbClr val="F8F9FA"/>
                </a:solidFill>
                <a:latin typeface="Calibri"/>
              </a:rPr>
              <a:t>pallet-governance (votación on-chain)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06A77D"/>
                </a:solidFill>
                <a:latin typeface="Calibri"/>
              </a:rPr>
              <a:t>■  </a:t>
            </a:r>
            <a:r>
              <a:rPr sz="1150" b="0">
                <a:solidFill>
                  <a:srgbClr val="F8F9FA"/>
                </a:solidFill>
                <a:latin typeface="Calibri"/>
              </a:rPr>
              <a:t>pallet-device (commit-reveal)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06A77D"/>
                </a:solidFill>
                <a:latin typeface="Calibri"/>
              </a:rPr>
              <a:t>■  </a:t>
            </a:r>
            <a:r>
              <a:rPr sz="1150" b="0">
                <a:solidFill>
                  <a:srgbClr val="F8F9FA"/>
                </a:solidFill>
                <a:latin typeface="Calibri"/>
              </a:rPr>
              <a:t>pallet-triangulation (RSSI)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1874519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91856" y="1874519"/>
            <a:ext cx="3657600" cy="13716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214883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F9FA"/>
                </a:solidFill>
                <a:latin typeface="Calibri"/>
              </a:rPr>
              <a:t>Capa Infraestructura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260603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CC9F0"/>
                </a:solidFill>
                <a:latin typeface="Calibri"/>
              </a:rPr>
              <a:t>Servicios criptográficos compartidos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3108959"/>
            <a:ext cx="3108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4CC9F0"/>
                </a:solidFill>
                <a:latin typeface="Calibri"/>
              </a:rPr>
              <a:t>■  </a:t>
            </a:r>
            <a:r>
              <a:rPr sz="1150" b="0">
                <a:solidFill>
                  <a:srgbClr val="F8F9FA"/>
                </a:solidFill>
                <a:latin typeface="Calibri"/>
              </a:rPr>
              <a:t>pallet-vault (threshold keys)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4CC9F0"/>
                </a:solidFill>
                <a:latin typeface="Calibri"/>
              </a:rPr>
              <a:t>■  </a:t>
            </a:r>
            <a:r>
              <a:rPr sz="1150" b="0">
                <a:solidFill>
                  <a:srgbClr val="F8F9FA"/>
                </a:solidFill>
                <a:latin typeface="Calibri"/>
              </a:rPr>
              <a:t>pallet-storage (epoch-bound)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4CC9F0"/>
                </a:solidFill>
                <a:latin typeface="Calibri"/>
              </a:rPr>
              <a:t>■  </a:t>
            </a:r>
            <a:r>
              <a:rPr sz="1150" b="0">
                <a:solidFill>
                  <a:srgbClr val="F8F9FA"/>
                </a:solidFill>
                <a:latin typeface="Calibri"/>
              </a:rPr>
              <a:t>pallet-lifecycle (rotación, auto-lock)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4CC9F0"/>
                </a:solidFill>
                <a:latin typeface="Calibri"/>
              </a:rPr>
              <a:t>■  </a:t>
            </a:r>
            <a:r>
              <a:rPr sz="1150" b="0">
                <a:solidFill>
                  <a:srgbClr val="F8F9FA"/>
                </a:solidFill>
                <a:latin typeface="Calibri"/>
              </a:rPr>
              <a:t>pallet-device-scanner (inherents)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7F00"/>
                </a:solidFill>
                <a:latin typeface="Calibri"/>
              </a:rPr>
              <a:t>COMPOSICIÓN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9FA"/>
                </a:solidFill>
                <a:latin typeface="Calibri"/>
              </a:rPr>
              <a:t>Los 12 pallets en detalle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2D0"/>
                </a:solidFill>
                <a:latin typeface="Calibri"/>
              </a:rPr>
              <a:t>Cada pallet es un módulo FRAME compilable a no_std (WASM)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635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7AYchain · Proof of Presence L1 · v0.9.7 Native Carrier Devnet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08 /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1091672" cy="41148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47671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A2E"/>
                </a:solidFill>
                <a:latin typeface="Calibri"/>
              </a:rPr>
              <a:t>Pallet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947671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A2E"/>
                </a:solidFill>
                <a:latin typeface="Calibri"/>
              </a:rPr>
              <a:t>Capa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947671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A2E"/>
                </a:solidFill>
                <a:latin typeface="Calibri"/>
              </a:rPr>
              <a:t>Propósito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1947671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A2E"/>
                </a:solidFill>
                <a:latin typeface="Calibri"/>
              </a:rPr>
              <a:t>Invariantes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69880" y="1947671"/>
            <a:ext cx="13075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A2E"/>
                </a:solidFill>
                <a:latin typeface="Calibri"/>
              </a:rPr>
              <a:t>LOC aprox.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285999"/>
            <a:ext cx="11091672" cy="329184"/>
          </a:xfrm>
          <a:prstGeom prst="rect">
            <a:avLst/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40863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presence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340863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Protocolo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340863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Declaración, votación y finalización de presencia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340863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INV1-13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2340863"/>
            <a:ext cx="1307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~1.8k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670047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epoch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2670047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Protocolo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2670047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Ciclo de epochs (Scheduled→Active→Closed→Finalized)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670047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INV14-18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2670047"/>
            <a:ext cx="1307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~1.1k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944367"/>
            <a:ext cx="11091672" cy="329184"/>
          </a:xfrm>
          <a:prstGeom prst="rect">
            <a:avLst/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2999231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validator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2999231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Protocolo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2999231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Registro, staking, slashing, evidence rewards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999231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INV46-49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80" y="2999231"/>
            <a:ext cx="1307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~2.0k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328415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dispute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3328415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Protocolo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3328415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Resolución de disputas con evidencia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3328415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(reservado)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69880" y="3328415"/>
            <a:ext cx="1307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~0.9k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602735"/>
            <a:ext cx="11091672" cy="329184"/>
          </a:xfrm>
          <a:prstGeom prst="rect">
            <a:avLst/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657599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governance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97480" y="365759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Identidad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365759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Propuestas y votación on-chain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365759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INV57-60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69880" y="3657599"/>
            <a:ext cx="1307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~1.2k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3986783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carrier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97480" y="3986783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Identidad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60520" y="3986783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Número, subscriber, eSIM, attach lease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9720" y="3986783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(pendiente)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69880" y="3986783"/>
            <a:ext cx="1307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~1.6k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261103"/>
            <a:ext cx="11091672" cy="329184"/>
          </a:xfrm>
          <a:prstGeom prst="rect">
            <a:avLst/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4315967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device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97480" y="4315967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Infra/Id.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60520" y="4315967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Identidad y compromiso de dispositivo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9720" y="4315967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INV64-65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69880" y="4315967"/>
            <a:ext cx="1307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~0.7k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4645151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triangulation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97480" y="4645151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Identidad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60520" y="4645151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Estimación de posición por RSSI/latencia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9720" y="4645151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69880" y="4645151"/>
            <a:ext cx="1307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~0.5k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4919471"/>
            <a:ext cx="11091672" cy="329184"/>
          </a:xfrm>
          <a:prstGeom prst="rect">
            <a:avLst/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" y="4974335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vault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697480" y="4974335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Infra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60520" y="4974335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Threshold key management con anillos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9720" y="4974335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INV66-68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69880" y="4974335"/>
            <a:ext cx="1307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~1.4k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5303519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storage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97480" y="530351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Infra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60520" y="530351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Almacenamiento cifrado epoch-bound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89720" y="530351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INV70-72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69880" y="5303519"/>
            <a:ext cx="1307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~0.6k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" y="5577839"/>
            <a:ext cx="11091672" cy="329184"/>
          </a:xfrm>
          <a:prstGeom prst="rect">
            <a:avLst/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5800" y="5632703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lifecycle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97480" y="5632703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Infra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60520" y="5632703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Rotación de claves y auto-lock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89720" y="5632703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INV76-78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69880" y="5632703"/>
            <a:ext cx="1307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8F9FA"/>
                </a:solidFill>
                <a:latin typeface="Calibri"/>
              </a:rPr>
              <a:t>~0.6k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5961887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device-scanner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97480" y="5961887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Infra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60520" y="5961887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Inherent de escaneo a nivel de bloque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89720" y="5961887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469880" y="5961887"/>
            <a:ext cx="1307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~0.4k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7F00"/>
                </a:solidFill>
                <a:latin typeface="Calibri"/>
              </a:rPr>
              <a:t>PALLET CARRIER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9FA"/>
                </a:solidFill>
                <a:latin typeface="Calibri"/>
              </a:rPr>
              <a:t>El corazón del v0.9.7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2D0"/>
                </a:solidFill>
                <a:latin typeface="Calibri"/>
              </a:rPr>
              <a:t>1.624 LOC · 15 extrínsecos · StorageVersion(4) · 947 LOC de tests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635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7AYchain · Proof of Presence L1 · v0.9.7 Native Carrier Devnet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09 /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77F00"/>
                </a:solidFill>
                <a:latin typeface="Calibri"/>
              </a:rPr>
              <a:t>Extrínsecos principales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54864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06A77D"/>
                </a:solidFill>
                <a:latin typeface="Calibri"/>
              </a:rPr>
              <a:t>■  </a:t>
            </a:r>
            <a:r>
              <a:rPr sz="1150" b="0">
                <a:solidFill>
                  <a:srgbClr val="F8F9FA"/>
                </a:solidFill>
                <a:latin typeface="Calibri"/>
              </a:rPr>
              <a:t>reserve_number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06A77D"/>
                </a:solidFill>
                <a:latin typeface="Calibri"/>
              </a:rPr>
              <a:t>■  </a:t>
            </a:r>
            <a:r>
              <a:rPr sz="1150" b="0">
                <a:solidFill>
                  <a:srgbClr val="F8F9FA"/>
                </a:solidFill>
                <a:latin typeface="Calibri"/>
              </a:rPr>
              <a:t>request_activation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06A77D"/>
                </a:solidFill>
                <a:latin typeface="Calibri"/>
              </a:rPr>
              <a:t>■  </a:t>
            </a:r>
            <a:r>
              <a:rPr sz="1150" b="0">
                <a:solidFill>
                  <a:srgbClr val="F8F9FA"/>
                </a:solidFill>
                <a:latin typeface="Calibri"/>
              </a:rPr>
              <a:t>request_recovery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06A77D"/>
                </a:solidFill>
                <a:latin typeface="Calibri"/>
              </a:rPr>
              <a:t>■  </a:t>
            </a:r>
            <a:r>
              <a:rPr sz="1150" b="0">
                <a:solidFill>
                  <a:srgbClr val="F8F9FA"/>
                </a:solidFill>
                <a:latin typeface="Calibri"/>
              </a:rPr>
              <a:t>submit_service_witness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06A77D"/>
                </a:solidFill>
                <a:latin typeface="Calibri"/>
              </a:rPr>
              <a:t>■  </a:t>
            </a:r>
            <a:r>
              <a:rPr sz="1150" b="0">
                <a:solidFill>
                  <a:srgbClr val="F8F9FA"/>
                </a:solidFill>
                <a:latin typeface="Calibri"/>
              </a:rPr>
              <a:t>finalize_service_request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06A77D"/>
                </a:solidFill>
                <a:latin typeface="Calibri"/>
              </a:rPr>
              <a:t>■  </a:t>
            </a:r>
            <a:r>
              <a:rPr sz="1150" b="0">
                <a:solidFill>
                  <a:srgbClr val="F8F9FA"/>
                </a:solidFill>
                <a:latin typeface="Calibri"/>
              </a:rPr>
              <a:t>suspend_number / revoke_number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06A77D"/>
                </a:solidFill>
                <a:latin typeface="Calibri"/>
              </a:rPr>
              <a:t>■  </a:t>
            </a:r>
            <a:r>
              <a:rPr sz="1150" b="0">
                <a:solidFill>
                  <a:srgbClr val="F8F9FA"/>
                </a:solidFill>
                <a:latin typeface="Calibri"/>
              </a:rPr>
              <a:t>refresh_signal_quality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06A77D"/>
                </a:solidFill>
                <a:latin typeface="Calibri"/>
              </a:rPr>
              <a:t>■  </a:t>
            </a:r>
            <a:r>
              <a:rPr sz="1150" b="0">
                <a:solidFill>
                  <a:srgbClr val="F8F9FA"/>
                </a:solidFill>
                <a:latin typeface="Calibri"/>
              </a:rPr>
              <a:t>record_provisioning_result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06A77D"/>
                </a:solidFill>
                <a:latin typeface="Calibri"/>
              </a:rPr>
              <a:t>■  </a:t>
            </a:r>
            <a:r>
              <a:rPr sz="1150" b="0">
                <a:solidFill>
                  <a:srgbClr val="F8F9FA"/>
                </a:solidFill>
                <a:latin typeface="Calibri"/>
              </a:rPr>
              <a:t>register_service_node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06A77D"/>
                </a:solidFill>
                <a:latin typeface="Calibri"/>
              </a:rPr>
              <a:t>■  </a:t>
            </a:r>
            <a:r>
              <a:rPr sz="1150" b="0">
                <a:solidFill>
                  <a:srgbClr val="F8F9FA"/>
                </a:solidFill>
                <a:latin typeface="Calibri"/>
              </a:rPr>
              <a:t>update_service_regions / suspend / reactivate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06A77D"/>
                </a:solidFill>
                <a:latin typeface="Calibri"/>
              </a:rPr>
              <a:t>■  </a:t>
            </a:r>
            <a:r>
              <a:rPr sz="1150" b="0">
                <a:solidFill>
                  <a:srgbClr val="F8F9FA"/>
                </a:solidFill>
                <a:latin typeface="Calibri"/>
              </a:rPr>
              <a:t>refresh_region_coverage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06A77D"/>
                </a:solidFill>
                <a:latin typeface="Calibri"/>
              </a:rPr>
              <a:t>■  </a:t>
            </a:r>
            <a:r>
              <a:rPr sz="1150" b="0">
                <a:solidFill>
                  <a:srgbClr val="F8F9FA"/>
                </a:solidFill>
                <a:latin typeface="Calibri"/>
              </a:rPr>
              <a:t>report_service_failure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5212080" cy="443484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109728" cy="443484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0116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77F00"/>
                </a:solidFill>
                <a:latin typeface="Calibri"/>
              </a:rPr>
              <a:t>Responsabilidades on-chain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468880"/>
            <a:ext cx="48463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77F00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Reserva y asignación de números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77F00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Binding subscriber ↔ número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77F00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Commitment de perfil SIM/eSIM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77F00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Activación gated por PoP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77F00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Attach authorization leases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77F00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Portabilidad de número (port-out / port-in)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77F00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Recuperación de dispositivo/número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77F00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Suspensión y hooks de disputa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77F00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Registro de service nodes con cobertura regional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77F00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Agregación de calidad de señal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7F00"/>
                </a:solidFill>
                <a:latin typeface="Calibri"/>
              </a:rPr>
              <a:t>MÁQUINA DE ESTADOS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9FA"/>
                </a:solidFill>
                <a:latin typeface="Calibri"/>
              </a:rPr>
              <a:t>Ciclo de vida de un número de subscriber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2D0"/>
                </a:solidFill>
                <a:latin typeface="Calibri"/>
              </a:rPr>
              <a:t>Toda transición es atómica, auditada y dependiente de PoP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635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7AYchain · Proof of Presence L1 · v0.9.7 Native Carrier Devnet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10 /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8027" y="2194560"/>
            <a:ext cx="1508760" cy="77724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8027" y="2194560"/>
            <a:ext cx="1508760" cy="73152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027" y="246888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8F9FA"/>
                </a:solidFill>
                <a:latin typeface="Calibri"/>
              </a:rPr>
              <a:t>Reserved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168499" y="2487168"/>
            <a:ext cx="91440" cy="182880"/>
          </a:xfrm>
          <a:prstGeom prst="rightArrow">
            <a:avLst/>
          </a:prstGeom>
          <a:solidFill>
            <a:srgbClr val="6B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32507" y="2194560"/>
            <a:ext cx="1508760" cy="77724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32507" y="2194560"/>
            <a:ext cx="1508760" cy="73152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32507" y="246888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8F9FA"/>
                </a:solidFill>
                <a:latin typeface="Calibri"/>
              </a:rPr>
              <a:t>ActivationPending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22979" y="2487168"/>
            <a:ext cx="91440" cy="182880"/>
          </a:xfrm>
          <a:prstGeom prst="rightArrow">
            <a:avLst/>
          </a:prstGeom>
          <a:solidFill>
            <a:srgbClr val="6B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86987" y="2194560"/>
            <a:ext cx="1508760" cy="77724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86987" y="2194560"/>
            <a:ext cx="150876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86987" y="246888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8F9FA"/>
                </a:solidFill>
                <a:latin typeface="Calibri"/>
              </a:rPr>
              <a:t>Activated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77459" y="2487168"/>
            <a:ext cx="91440" cy="182880"/>
          </a:xfrm>
          <a:prstGeom prst="rightArrow">
            <a:avLst/>
          </a:prstGeom>
          <a:solidFill>
            <a:srgbClr val="6B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41467" y="2194560"/>
            <a:ext cx="1508760" cy="77724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1467" y="2194560"/>
            <a:ext cx="1508760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1467" y="246888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8F9FA"/>
                </a:solidFill>
                <a:latin typeface="Calibri"/>
              </a:rPr>
              <a:t>Suspended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831939" y="2487168"/>
            <a:ext cx="91440" cy="182880"/>
          </a:xfrm>
          <a:prstGeom prst="rightArrow">
            <a:avLst/>
          </a:prstGeom>
          <a:solidFill>
            <a:srgbClr val="6B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95947" y="2194560"/>
            <a:ext cx="1508760" cy="77724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95947" y="2194560"/>
            <a:ext cx="1508760" cy="73152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95947" y="246888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8F9FA"/>
                </a:solidFill>
                <a:latin typeface="Calibri"/>
              </a:rPr>
              <a:t>RecoveryPending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386419" y="2487168"/>
            <a:ext cx="91440" cy="182880"/>
          </a:xfrm>
          <a:prstGeom prst="rightArrow">
            <a:avLst/>
          </a:prstGeom>
          <a:solidFill>
            <a:srgbClr val="6B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50427" y="2194560"/>
            <a:ext cx="1508760" cy="77724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50427" y="2194560"/>
            <a:ext cx="150876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0427" y="246888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8F9FA"/>
                </a:solidFill>
                <a:latin typeface="Calibri"/>
              </a:rPr>
              <a:t>Recovered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940899" y="2487168"/>
            <a:ext cx="91440" cy="182880"/>
          </a:xfrm>
          <a:prstGeom prst="rightArrow">
            <a:avLst/>
          </a:prstGeom>
          <a:solidFill>
            <a:srgbClr val="6B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004907" y="2194560"/>
            <a:ext cx="1508760" cy="77724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04907" y="2194560"/>
            <a:ext cx="1508760" cy="7315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04907" y="246888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8F9FA"/>
                </a:solidFill>
                <a:latin typeface="Calibri"/>
              </a:rPr>
              <a:t>Revoked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3832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77F00"/>
                </a:solidFill>
                <a:latin typeface="Calibri"/>
              </a:rPr>
              <a:t>Disparadores y condiciones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A77D"/>
                </a:solidFill>
                <a:latin typeface="Calibri"/>
              </a:rPr>
              <a:t>reserve_number → Reserved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050792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2D0"/>
                </a:solidFill>
                <a:latin typeface="Calibri"/>
              </a:rPr>
              <a:t>Un actor activo reserva un número en una región. Requiere stake.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9903" y="3794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A77D"/>
                </a:solidFill>
                <a:latin typeface="Calibri"/>
              </a:rPr>
              <a:t>request_activation → ActivationPending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9903" y="4050792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2D0"/>
                </a:solidFill>
                <a:latin typeface="Calibri"/>
              </a:rPr>
              <a:t>Actor solicita; debe pasar verificación PoP local.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079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A77D"/>
                </a:solidFill>
                <a:latin typeface="Calibri"/>
              </a:rPr>
              <a:t>submit_service_witness × N → Activated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764024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2D0"/>
                </a:solidFill>
                <a:latin typeface="Calibri"/>
              </a:rPr>
              <a:t>Quórum 2-de-32 de witnesses locales finaliza.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9903" y="45079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A77D"/>
                </a:solidFill>
                <a:latin typeface="Calibri"/>
              </a:rPr>
              <a:t>suspend_number → Suspended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9903" y="4764024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2D0"/>
                </a:solidFill>
                <a:latin typeface="Calibri"/>
              </a:rPr>
              <a:t>Disputa abierta o señal de fraude detectada.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22122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A77D"/>
                </a:solidFill>
                <a:latin typeface="Calibri"/>
              </a:rPr>
              <a:t>request_recovery → RecoveryPending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47725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2D0"/>
                </a:solidFill>
                <a:latin typeface="Calibri"/>
              </a:rPr>
              <a:t>Pérdida de dispositivo / cambio legítimo; cooldown 7 días.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9903" y="522122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A77D"/>
                </a:solidFill>
                <a:latin typeface="Calibri"/>
              </a:rPr>
              <a:t>revoke_number → Revoked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9903" y="547725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2D0"/>
                </a:solidFill>
                <a:latin typeface="Calibri"/>
              </a:rPr>
              <a:t>Estado terminal por violación crítica o decisión de governance.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7F00"/>
                </a:solidFill>
                <a:latin typeface="Calibri"/>
              </a:rPr>
              <a:t>REGLA CANÓNICA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9FA"/>
                </a:solidFill>
                <a:latin typeface="Calibri"/>
              </a:rPr>
              <a:t>Cuándo se autoriza un attach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2D0"/>
                </a:solidFill>
                <a:latin typeface="Calibri"/>
              </a:rPr>
              <a:t>La fórmula que rige el plano de control de v0.9.7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635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7AYchain · Proof of Presence L1 · v0.9.7 Native Carrier Devnet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11 /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11091672" cy="1463040"/>
          </a:xfrm>
          <a:prstGeom prst="roundRect">
            <a:avLst>
              <a:gd name="adj" fmla="val 8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09728" cy="146304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659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7F00"/>
                </a:solidFill>
                <a:latin typeface="Calibri"/>
              </a:rPr>
              <a:t>ATTACH AUTHORIZED  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317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Calibri"/>
              </a:rPr>
              <a:t>Active Actor  +  Active Device  +  Bound Number  +  Valid SIM/eSIM Entitlement  +  Verified Local Proof of Presence  +  Local Witness Quorum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3566160" cy="73152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40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6A77D"/>
                </a:solidFill>
                <a:latin typeface="Calibri"/>
              </a:rPr>
              <a:t>Active Actor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Actor registrado, no suspendido y dentro de epoch activa.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61103" y="365760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61103" y="3657600"/>
            <a:ext cx="3566160" cy="73152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9703" y="3840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6A77D"/>
                </a:solidFill>
                <a:latin typeface="Calibri"/>
              </a:rPr>
              <a:t>Active Device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3" y="416052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Dispositivo con commit-reveal vigente y no revocado.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7" y="365760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7" y="3657600"/>
            <a:ext cx="3566160" cy="73152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7" y="3840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6A77D"/>
                </a:solidFill>
                <a:latin typeface="Calibri"/>
              </a:rPr>
              <a:t>Bound Number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7" y="416052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Número en estado Activated y vinculado a este actor.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8348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983480"/>
            <a:ext cx="3566160" cy="73152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166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6A77D"/>
                </a:solidFill>
                <a:latin typeface="Calibri"/>
              </a:rPr>
              <a:t>SIM/eSIM Entitlement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8640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Commitment de perfil SIM válido; sin reportes de rotación pendiente.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61103" y="498348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61103" y="4983480"/>
            <a:ext cx="3566160" cy="73152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9703" y="5166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6A77D"/>
                </a:solidFill>
                <a:latin typeface="Calibri"/>
              </a:rPr>
              <a:t>Local Proof of Presence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9703" y="548640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Declaración finalizada dentro del lease, en la región serving.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3567" y="498348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3567" y="4983480"/>
            <a:ext cx="3566160" cy="73152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02167" y="5166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6A77D"/>
                </a:solidFill>
                <a:latin typeface="Calibri"/>
              </a:rPr>
              <a:t>Local Witness Quorum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02167" y="548640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Quórum 2-de-32 de witnesses de cobertura local.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7F00"/>
                </a:solidFill>
                <a:latin typeface="Calibri"/>
              </a:rPr>
              <a:t>CRIPTOGRAFÍA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9FA"/>
                </a:solidFill>
                <a:latin typeface="Calibri"/>
              </a:rPr>
              <a:t>Capa criptográfica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2D0"/>
                </a:solidFill>
                <a:latin typeface="Calibri"/>
              </a:rPr>
              <a:t>Primitivas seleccionadas para auditabilidad y resistencia post-cuántica parcial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635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7AYchain · Proof of Presence L1 · v0.9.7 Native Carrier Devnet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12 /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3657600" cy="9144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11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77F00"/>
                </a:solidFill>
                <a:latin typeface="Calibri"/>
              </a:rPr>
              <a:t>Hashing dominio-separado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C2D0"/>
                </a:solidFill>
                <a:latin typeface="Calibri"/>
              </a:rPr>
              <a:t>Blake2-256 + SHA-256 NIST (FIPS 180-4). 17 constantes de dominio: presence, epoch, commit, merkle, nullifier, vault, device, etc.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0248" y="182880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1828800"/>
            <a:ext cx="3657600" cy="91440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011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6A77D"/>
                </a:solidFill>
                <a:latin typeface="Calibri"/>
              </a:rPr>
              <a:t>Compromisos Pedersen-style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51460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C2D0"/>
                </a:solidFill>
                <a:latin typeface="Calibri"/>
              </a:rPr>
              <a:t>C = H(domain ‖ value ‖ randomness). Binding + hiding. Base para evidencia y nullifiers.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856" y="182880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1856" y="1828800"/>
            <a:ext cx="3657600" cy="914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2011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4CC9F0"/>
                </a:solidFill>
                <a:latin typeface="Calibri"/>
              </a:rPr>
              <a:t>Árboles de Merkle binarios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251460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C2D0"/>
                </a:solidFill>
                <a:latin typeface="Calibri"/>
              </a:rPr>
              <a:t>Padding power-of-2, hashing Blake2 con dominio DOMAIN_MERKLE. Pruebas de inclusión compactas.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8620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886200"/>
            <a:ext cx="365760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0690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0B981"/>
                </a:solidFill>
                <a:latin typeface="Calibri"/>
              </a:rPr>
              <a:t>Shamir GF(2⁸)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7200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C2D0"/>
                </a:solidFill>
                <a:latin typeface="Calibri"/>
              </a:rPr>
              <a:t>Polinomio Rijndael 0x11B. Threshold scheme (t, n) con t ≥ 2. Base de pallet-vault.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0248" y="388620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70248" y="3886200"/>
            <a:ext cx="3657600" cy="9144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40690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77F00"/>
                </a:solidFill>
                <a:latin typeface="Calibri"/>
              </a:rPr>
              <a:t>Feldman VSS + Schnorr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457200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C2D0"/>
                </a:solidFill>
                <a:latin typeface="Calibri"/>
              </a:rPr>
              <a:t>Verifiable secret sharing con hash commitments. Pruebas Schnorr de conocimiento de share.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91856" y="388620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91856" y="3886200"/>
            <a:ext cx="3657600" cy="91440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0456" y="40690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6A77D"/>
                </a:solidFill>
                <a:latin typeface="Calibri"/>
              </a:rPr>
              <a:t>PSS refresh + constant-time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456" y="457200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C2D0"/>
                </a:solidFill>
                <a:latin typeface="Calibri"/>
              </a:rPr>
              <a:t>Proactive secret sharing: rotación periódica sin reconstrucción. Comparaciones constant-time en [u8; 32].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7F00"/>
                </a:solidFill>
                <a:latin typeface="Calibri"/>
              </a:rPr>
              <a:t>FLUJO DE SERVICIO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9FA"/>
                </a:solidFill>
                <a:latin typeface="Calibri"/>
              </a:rPr>
              <a:t>Flujo nativo del operador (9 pasos)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2D0"/>
                </a:solidFill>
                <a:latin typeface="Calibri"/>
              </a:rPr>
              <a:t>De la registración del actor a la voz/datos/SMS en el handset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635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7AYchain · Proof of Presence L1 · v0.9.7 Native Carrier Devnet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13 /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91672" cy="420624"/>
          </a:xfrm>
          <a:prstGeom prst="rect">
            <a:avLst/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548640" cy="420624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01952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8F9F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920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9FA"/>
                </a:solidFill>
                <a:latin typeface="Calibri"/>
              </a:rPr>
              <a:t>Actor registrado y activo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9385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F77F00"/>
                </a:solidFill>
                <a:latin typeface="Calibri"/>
              </a:rPr>
              <a:t>pallet-presence + governance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295144"/>
            <a:ext cx="11091672" cy="420624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295144"/>
            <a:ext cx="548640" cy="420624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36829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8F9F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38658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9FA"/>
                </a:solidFill>
                <a:latin typeface="Calibri"/>
              </a:rPr>
              <a:t>Dispositivo registrado y activo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4048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F77F00"/>
                </a:solidFill>
                <a:latin typeface="Calibri"/>
              </a:rPr>
              <a:t>pallet-device · commit-reveal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761488"/>
            <a:ext cx="11091672" cy="420624"/>
          </a:xfrm>
          <a:prstGeom prst="rect">
            <a:avLst/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761488"/>
            <a:ext cx="548640" cy="420624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83464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8F9FA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28529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9FA"/>
                </a:solidFill>
                <a:latin typeface="Calibri"/>
              </a:rPr>
              <a:t>Número asignado al actor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87121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F77F00"/>
                </a:solidFill>
                <a:latin typeface="Calibri"/>
              </a:rPr>
              <a:t>pallet-carrier · reserve_number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227832"/>
            <a:ext cx="11091672" cy="420624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227832"/>
            <a:ext cx="548640" cy="420624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300984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8F9FA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3192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9FA"/>
                </a:solidFill>
                <a:latin typeface="Calibri"/>
              </a:rPr>
              <a:t>SIM/eSIM entitlement vinculado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337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F77F00"/>
                </a:solidFill>
                <a:latin typeface="Calibri"/>
              </a:rPr>
              <a:t>pallet-carrier · SimProfileCommitment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694176"/>
            <a:ext cx="11091672" cy="420624"/>
          </a:xfrm>
          <a:prstGeom prst="rect">
            <a:avLst/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694176"/>
            <a:ext cx="548640" cy="420624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7673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8F9FA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378561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9FA"/>
                </a:solidFill>
                <a:latin typeface="Calibri"/>
              </a:rPr>
              <a:t>PoP local satisfecho en la región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380390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F77F00"/>
                </a:solidFill>
                <a:latin typeface="Calibri"/>
              </a:rPr>
              <a:t>pallet-presence + triangulation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160520"/>
            <a:ext cx="11091672" cy="420624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160520"/>
            <a:ext cx="548640" cy="420624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233672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8F9FA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4251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9FA"/>
                </a:solidFill>
                <a:latin typeface="Calibri"/>
              </a:rPr>
              <a:t>Witnesses locales finalizan servicio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2702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F77F00"/>
                </a:solidFill>
                <a:latin typeface="Calibri"/>
              </a:rPr>
              <a:t>pallet-carrier · submit_service_witness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626864"/>
            <a:ext cx="11091672" cy="420624"/>
          </a:xfrm>
          <a:prstGeom prst="rect">
            <a:avLst/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4626864"/>
            <a:ext cx="548640" cy="420624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70001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8F9FA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25880" y="471830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9FA"/>
                </a:solidFill>
                <a:latin typeface="Calibri"/>
              </a:rPr>
              <a:t>Bridge deriva attach lease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47365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4CC9F0"/>
                </a:solidFill>
                <a:latin typeface="Calibri"/>
              </a:rPr>
              <a:t>off-chain: carrier-bridge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093208"/>
            <a:ext cx="11091672" cy="420624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5093208"/>
            <a:ext cx="548640" cy="420624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16636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8F9FA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25880" y="51846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9FA"/>
                </a:solidFill>
                <a:latin typeface="Calibri"/>
              </a:rPr>
              <a:t>Mobile core admite el handset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0" y="520293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4CC9F0"/>
                </a:solidFill>
                <a:latin typeface="Calibri"/>
              </a:rPr>
              <a:t>off-chain: IMS / Asterisk / 5G core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559552"/>
            <a:ext cx="11091672" cy="420624"/>
          </a:xfrm>
          <a:prstGeom prst="rect">
            <a:avLst/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8640" y="5559552"/>
            <a:ext cx="548640" cy="420624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5632704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8F9FA"/>
                </a:solidFill>
                <a:latin typeface="Calibri"/>
              </a:rPr>
              <a:t>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25880" y="56509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9FA"/>
                </a:solidFill>
                <a:latin typeface="Calibri"/>
              </a:rPr>
              <a:t>Servicio nativo provisto al usuario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63840" y="5669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4CC9F0"/>
                </a:solidFill>
                <a:latin typeface="Calibri"/>
              </a:rPr>
              <a:t>voz · datos · SMS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6126480"/>
            <a:ext cx="182880" cy="18288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610819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2D0"/>
                </a:solidFill>
                <a:latin typeface="Calibri"/>
              </a:rPr>
              <a:t>Pasos on-chain (consenso)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0" y="6126480"/>
            <a:ext cx="182880" cy="18288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89120" y="610819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2D0"/>
                </a:solidFill>
                <a:latin typeface="Calibri"/>
              </a:rPr>
              <a:t>Pasos off-chain (bridge + telco stack)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7F00"/>
                </a:solidFill>
                <a:latin typeface="Calibri"/>
              </a:rPr>
              <a:t>INTEGRACIÓN TELECOM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9FA"/>
                </a:solidFill>
                <a:latin typeface="Calibri"/>
              </a:rPr>
              <a:t>Bridge: el puente al mobile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2D0"/>
                </a:solidFill>
                <a:latin typeface="Calibri"/>
              </a:rPr>
              <a:t>Cómo el estado on-chain se convierte en servicio real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635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7AYchain · Proof of Presence L1 · v0.9.7 Native Carrier Devnet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14 /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3657600" cy="91440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11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A77D"/>
                </a:solidFill>
                <a:latin typeface="Calibri"/>
              </a:rPr>
              <a:t>INPUT (on-chain)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2D0"/>
                </a:solidFill>
                <a:latin typeface="Calibri"/>
              </a:rPr>
              <a:t>Estado consultado por el bridge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43200"/>
            <a:ext cx="3108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6A77D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Actor status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6A77D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Device status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6A77D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Number binding status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6A77D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SIM/eSIM commitment status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6A77D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Última presence lease válida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6A77D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Estado de suspensión o disputa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194560"/>
            <a:ext cx="3017520" cy="3383280"/>
          </a:xfrm>
          <a:prstGeom prst="roundRect">
            <a:avLst>
              <a:gd name="adj" fmla="val 8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468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F1A2E"/>
                </a:solidFill>
                <a:latin typeface="Calibri"/>
              </a:rPr>
              <a:t>CARRIER BRIDGE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017520"/>
            <a:ext cx="26517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A2E"/>
                </a:solidFill>
                <a:latin typeface="Calibri"/>
              </a:rPr>
              <a:t>Servicio off-chain que:
• Suscribe a eventos chain
• Indexa subscribers
• Calcula lease de attach
• Emite a IMS/SBC
• Aplica políticas región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82880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1828800"/>
            <a:ext cx="3657600" cy="9144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2011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7F00"/>
                </a:solidFill>
                <a:latin typeface="Calibri"/>
              </a:rPr>
              <a:t>OUTPUT (al mobile core)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3317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2D0"/>
                </a:solidFill>
                <a:latin typeface="Calibri"/>
              </a:rPr>
              <a:t>Decisiones consumidas por IMS/RAN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743200"/>
            <a:ext cx="3108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77F00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Attach allowed / denied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77F00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Service region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77F00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Entitlement duration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77F00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Portability hold state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77F00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Recovery hold state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77F00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Policy class (voice/data/SMS)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03504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2D0"/>
                </a:solidFill>
                <a:latin typeface="Calibri"/>
              </a:rPr>
              <a:t>Devnet de referencia: Asterisk (SIP/IMS)  ·  Kamailio (SBC)  ·  SM-DP+ mock para provisionamiento eSIM  ·  Generación de QRs reales para iPhone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7F00"/>
                </a:solidFill>
                <a:latin typeface="Calibri"/>
              </a:rPr>
              <a:t>VENTAJAS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9FA"/>
                </a:solidFill>
                <a:latin typeface="Calibri"/>
              </a:rPr>
              <a:t>Ventajas competitivas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2D0"/>
                </a:solidFill>
                <a:latin typeface="Calibri"/>
              </a:rPr>
              <a:t>Qué hace a 7AYchain único frente a alternativas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635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7AYchain · Proof of Presence L1 · v0.9.7 Native Carrier Devnet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15 /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5541264" cy="141732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09728" cy="141732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011680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77F00"/>
                </a:solidFill>
                <a:latin typeface="Calibri"/>
              </a:rPr>
              <a:t>Verificable end-to-end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23160"/>
            <a:ext cx="49926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8C2D0"/>
                </a:solidFill>
                <a:latin typeface="Calibri"/>
              </a:rPr>
              <a:t>Cada hecho telco crítico (identidad, número, entitlement) tiene huella criptográfica on-chain auditable.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828800"/>
            <a:ext cx="5541264" cy="141732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9048" y="1828800"/>
            <a:ext cx="109728" cy="1417320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011680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A77D"/>
                </a:solidFill>
                <a:latin typeface="Calibri"/>
              </a:rPr>
              <a:t>Sin oráculos externos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423160"/>
            <a:ext cx="49926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8C2D0"/>
                </a:solidFill>
                <a:latin typeface="Calibri"/>
              </a:rPr>
              <a:t>La presencia se mide entre peers, no se importa de GPS, IP geolocation o un proveedor centralizado.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37560"/>
            <a:ext cx="5541264" cy="141732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37560"/>
            <a:ext cx="109728" cy="141732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520440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9F0"/>
                </a:solidFill>
                <a:latin typeface="Calibri"/>
              </a:rPr>
              <a:t>Resistencia a SIM swap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31920"/>
            <a:ext cx="49926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8C2D0"/>
                </a:solidFill>
                <a:latin typeface="Calibri"/>
              </a:rPr>
              <a:t>Rotación de SIM/eSIM exige quórum fresco de PoP + witness — no es solo aprobar en un dashboard.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9048" y="3337560"/>
            <a:ext cx="5541264" cy="141732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9048" y="3337560"/>
            <a:ext cx="109728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520440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Portabilidad nativa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931920"/>
            <a:ext cx="49926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8C2D0"/>
                </a:solidFill>
                <a:latin typeface="Calibri"/>
              </a:rPr>
              <a:t>Cambiar de región u operador no rompe la identidad del subscriber: el número está bound al actor on-chain.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846320"/>
            <a:ext cx="5541264" cy="141732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846320"/>
            <a:ext cx="109728" cy="141732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029200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77F00"/>
                </a:solidFill>
                <a:latin typeface="Calibri"/>
              </a:rPr>
              <a:t>Compatibilidad con stacks telco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440680"/>
            <a:ext cx="49926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8C2D0"/>
                </a:solidFill>
                <a:latin typeface="Calibri"/>
              </a:rPr>
              <a:t>Bridge consume estado on-chain → Asterisk/IMS/5G core. No requiere app especial en el handset.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9048" y="4846320"/>
            <a:ext cx="5541264" cy="141732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9048" y="4846320"/>
            <a:ext cx="109728" cy="1417320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5029200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A77D"/>
                </a:solidFill>
                <a:latin typeface="Calibri"/>
              </a:rPr>
              <a:t>Open-source, BUSL-1.1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5440680"/>
            <a:ext cx="49926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8C2D0"/>
                </a:solidFill>
                <a:latin typeface="Calibri"/>
              </a:rPr>
              <a:t>Auditable por cualquiera; uso comercial permitido bajo condiciones del Business Source License.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7F00"/>
                </a:solidFill>
                <a:latin typeface="Calibri"/>
              </a:rPr>
              <a:t>ADOPCIÓN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9FA"/>
                </a:solidFill>
                <a:latin typeface="Calibri"/>
              </a:rPr>
              <a:t>Razones para usarlo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2D0"/>
                </a:solidFill>
                <a:latin typeface="Calibri"/>
              </a:rPr>
              <a:t>Por quién, para qué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635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7AYchain · Proof of Presence L1 · v0.9.7 Native Carrier Devnet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16 /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5541264" cy="210312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5541264" cy="9144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77F00"/>
                </a:solidFill>
                <a:latin typeface="Calibri"/>
              </a:rPr>
              <a:t>MVNOs comunitarios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14600"/>
            <a:ext cx="4992624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77F00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Operar sin licencia full-stack: 7AY como plano de control común.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77F00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Compartir validators con otros MVNOs amigos.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77F00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Recibir evidencias de fraude de la red completa.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828800"/>
            <a:ext cx="5541264" cy="210312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9048" y="1828800"/>
            <a:ext cx="5541264" cy="91440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2011680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A77D"/>
                </a:solidFill>
                <a:latin typeface="Calibri"/>
              </a:rPr>
              <a:t>Cobertura rural / mesh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514600"/>
            <a:ext cx="4992624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6A77D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Service nodes locales con coverage regions.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6A77D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Provisión eSIM autónoma sin SM-DP+ central.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6A77D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Continuidad si la red incumbent falla.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5541264" cy="210312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023360"/>
            <a:ext cx="5541264" cy="914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9F0"/>
                </a:solidFill>
                <a:latin typeface="Calibri"/>
              </a:rPr>
              <a:t>Identidad portable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09160"/>
            <a:ext cx="4992624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CC9F0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Refugiados, nómadas, viajeros: número que cruza fronteras.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4CC9F0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Recovery on-chain auditable, no por hotline.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4CC9F0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Sin lock-in con un operador específico.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9048" y="4023360"/>
            <a:ext cx="5541264" cy="210312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9048" y="4023360"/>
            <a:ext cx="554126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4206240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Researchers &amp; devs DePIN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709160"/>
            <a:ext cx="4992624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Substrate L1 con primitivas PoP listas para extender.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Devnet reproducible con stack telecom completo.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■  </a:t>
            </a:r>
            <a:r>
              <a:rPr sz="1100" b="0">
                <a:solidFill>
                  <a:srgbClr val="F8F9FA"/>
                </a:solidFill>
                <a:latin typeface="Calibri"/>
              </a:rPr>
              <a:t>Auditoría continua: 78+ invariantes formalmente especificadas.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7F00"/>
                </a:solidFill>
                <a:latin typeface="Calibri"/>
              </a:rPr>
              <a:t>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9FA"/>
                </a:solidFill>
                <a:latin typeface="Calibri"/>
              </a:rPr>
              <a:t>Invariantes y garantías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2D0"/>
                </a:solidFill>
                <a:latin typeface="Calibri"/>
              </a:rPr>
              <a:t>Restricciones que la cadena debe cumplir bajo cualquier ejecución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635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7AYchain · Proof of Presence L1 · v0.9.7 Native Carrier Devnet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17 /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5541264" cy="141732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09728" cy="141732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011680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7F00"/>
                </a:solidFill>
                <a:latin typeface="Calibri"/>
              </a:rPr>
              <a:t>Presencia (INV1-13)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23160"/>
            <a:ext cx="49926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No duplicate (actor, epoch) · Finalized inmutable · Transiciones monótonas · Voto único por validator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828800"/>
            <a:ext cx="5541264" cy="141732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9048" y="1828800"/>
            <a:ext cx="109728" cy="1417320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011680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A77D"/>
                </a:solidFill>
                <a:latin typeface="Calibri"/>
              </a:rPr>
              <a:t>Epoch (INV14-18)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423160"/>
            <a:ext cx="49926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Datos efímeros acotados · Sólo declarations en epoch activa · Auto-transición por on_initialize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37560"/>
            <a:ext cx="5541264" cy="141732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37560"/>
            <a:ext cx="109728" cy="141732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520440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CC9F0"/>
                </a:solidFill>
                <a:latin typeface="Calibri"/>
              </a:rPr>
              <a:t>Validator (INV46-49)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31920"/>
            <a:ext cx="49926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≥ 50 validators · ≤ 33% stake concentration · Slash ≤ total stake · Evidence reward ≤ 1000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9048" y="3337560"/>
            <a:ext cx="5541264" cy="141732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9048" y="3337560"/>
            <a:ext cx="109728" cy="14173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520440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Security (INV43-45)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931920"/>
            <a:ext cx="49926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Voto incluye BlockRef · Key destruction con timeout 300s + ≥ 3 attestations · Rate limit 60/min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846320"/>
            <a:ext cx="5541264" cy="141732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846320"/>
            <a:ext cx="109728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029200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Vault/Crypto (INV66-69)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440680"/>
            <a:ext cx="49926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Ring 3-10 miembros · Locked = inaccesible · Threshold (t,n) bien formado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9048" y="4846320"/>
            <a:ext cx="5541264" cy="141732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9048" y="4846320"/>
            <a:ext cx="109728" cy="141732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5029200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7F00"/>
                </a:solidFill>
                <a:latin typeface="Calibri"/>
              </a:rPr>
              <a:t>Lifecycle (INV76-78)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5440680"/>
            <a:ext cx="499262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Auto-lock por inactividad · Key destruction completa · Rotación on schedule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7F00"/>
                </a:solidFill>
                <a:latin typeface="Calibri"/>
              </a:rPr>
              <a:t>USO · VALIDATOR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9FA"/>
                </a:solidFill>
                <a:latin typeface="Calibri"/>
              </a:rPr>
              <a:t>Cómo correr un validator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2D0"/>
                </a:solidFill>
                <a:latin typeface="Calibri"/>
              </a:rPr>
              <a:t>De build a participación en consenso en 5 pasos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635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7AYchain · Proof of Presence L1 · v0.9.7 Native Carrier Devnet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18 /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77F00"/>
                </a:solidFill>
                <a:latin typeface="Calibri"/>
              </a:rPr>
              <a:t>Pasos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40280"/>
            <a:ext cx="5486400" cy="68580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8F9FA"/>
                </a:solidFill>
                <a:latin typeface="Calibri"/>
              </a:rPr>
              <a:t>1.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2432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onsolas"/>
              </a:rPr>
              <a:t>cargo build --release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17520"/>
            <a:ext cx="5486400" cy="68580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8F9FA"/>
                </a:solidFill>
                <a:latin typeface="Calibri"/>
              </a:rPr>
              <a:t>2. Generar keys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0156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onsolas"/>
              </a:rPr>
              <a:t>Aura (Sr25519) + GRANDPA (Ed25519)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94760"/>
            <a:ext cx="5486400" cy="68580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862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8F9FA"/>
                </a:solidFill>
                <a:latin typeface="Calibri"/>
              </a:rPr>
              <a:t>3. Iniciar nodo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7880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onsolas"/>
              </a:rPr>
              <a:t>./target/release/seveny-node --chain testnet --validator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72000"/>
            <a:ext cx="5486400" cy="68580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6634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8F9FA"/>
                </a:solidFill>
                <a:latin typeface="Calibri"/>
              </a:rPr>
              <a:t>4. Bond stake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95604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onsolas"/>
              </a:rPr>
              <a:t>Extrinsic bond_stake — mínimo según 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49240"/>
            <a:ext cx="5486400" cy="68580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406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8F9FA"/>
                </a:solidFill>
                <a:latin typeface="Calibri"/>
              </a:rPr>
              <a:t>5. Operar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3328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onsolas"/>
              </a:rPr>
              <a:t>Recibir evidence rewards · evitar slashing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828800"/>
            <a:ext cx="5212080" cy="448056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828800"/>
            <a:ext cx="109728" cy="4480560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0116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A77D"/>
                </a:solidFill>
                <a:latin typeface="Calibri"/>
              </a:rPr>
              <a:t>Economía del validator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514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8F9FA"/>
                </a:solidFill>
                <a:latin typeface="Calibri"/>
              </a:rPr>
              <a:t>MIN_VALIDATORS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25146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>
                <a:solidFill>
                  <a:srgbClr val="06A77D"/>
                </a:solidFill>
                <a:latin typeface="Calibri"/>
              </a:rPr>
              <a:t>50 (set mínimo viable)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063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8F9FA"/>
                </a:solidFill>
                <a:latin typeface="Calibri"/>
              </a:rPr>
              <a:t>MAX_STAKE_RATIO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30632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>
                <a:solidFill>
                  <a:srgbClr val="06A77D"/>
                </a:solidFill>
                <a:latin typeface="Calibri"/>
              </a:rPr>
              <a:t>33% (anti-concentración)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6118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8F9FA"/>
                </a:solidFill>
                <a:latin typeface="Calibri"/>
              </a:rPr>
              <a:t>BONDING_DURATION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36118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>
                <a:solidFill>
                  <a:srgbClr val="06A77D"/>
                </a:solidFill>
                <a:latin typeface="Calibri"/>
              </a:rPr>
              <a:t>345.600 bloques (~4 días)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1605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8F9FA"/>
                </a:solidFill>
                <a:latin typeface="Calibri"/>
              </a:rPr>
              <a:t>EVIDENCE_REWARD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41605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>
                <a:solidFill>
                  <a:srgbClr val="06A77D"/>
                </a:solidFill>
                <a:latin typeface="Calibri"/>
              </a:rPr>
              <a:t>10% del stake, tope 1000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709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8F9FA"/>
                </a:solidFill>
                <a:latin typeface="Calibri"/>
              </a:rPr>
              <a:t>Slashing tiers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47091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>
                <a:solidFill>
                  <a:srgbClr val="06A77D"/>
                </a:solidFill>
                <a:latin typeface="Calibri"/>
              </a:rPr>
              <a:t>5% / 20% / 50% / 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257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8F9FA"/>
                </a:solidFill>
                <a:latin typeface="Calibri"/>
              </a:rPr>
              <a:t>RECOVERY_QUORUM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52578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0">
                <a:solidFill>
                  <a:srgbClr val="06A77D"/>
                </a:solidFill>
                <a:latin typeface="Calibri"/>
              </a:rPr>
              <a:t>80% del set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7F00"/>
                </a:solidFill>
                <a:latin typeface="Calibri"/>
              </a:rPr>
              <a:t>USO · DEVELOPER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9FA"/>
                </a:solidFill>
                <a:latin typeface="Calibri"/>
              </a:rPr>
              <a:t>Cómo construir sobre 7AYchain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2D0"/>
                </a:solidFill>
                <a:latin typeface="Calibri"/>
              </a:rPr>
              <a:t>Del clone a la primera extrínseca custom en una tarde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635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7AYchain · Proof of Presence L1 · v0.9.7 Native Carrier Devnet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19 /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77F00"/>
                </a:solidFill>
                <a:latin typeface="Calibri"/>
              </a:rPr>
              <a:t>Empezar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4028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CC9F0"/>
                </a:solidFill>
                <a:latin typeface="Consolas"/>
              </a:rPr>
              <a:t># Clonar y construir
git clone https://github.com/7ayLabs/7aychain
cd 7aychain &amp;&amp; cargo build --release
# Levantar devnet
./target/release/seveny-node --dev
# Ejecutar tests
cargo test --workspace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A77D"/>
                </a:solidFill>
                <a:latin typeface="Calibri"/>
              </a:rPr>
              <a:t>Devnet telecom (v0.9.7)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4632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51206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CC9F0"/>
                </a:solidFill>
                <a:latin typeface="Consolas"/>
              </a:rPr>
              <a:t># Levantar stack telecom completo
cd devnet &amp;&amp; docker compose -f docker-compose.telecom.yml up -d
# Bootstrap del SM-DP+ mock + eSIM QRs
./scripts/telecom-dev.sh bootstrap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828800"/>
            <a:ext cx="5212080" cy="443484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828800"/>
            <a:ext cx="109728" cy="443484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0116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77F00"/>
                </a:solidFill>
                <a:latin typeface="Calibri"/>
              </a:rPr>
              <a:t>Superficies de integración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4688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9FA"/>
                </a:solidFill>
                <a:latin typeface="Calibri"/>
              </a:rPr>
              <a:t>RPC custom JSON-RPC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72491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presence, epoch, validator, device, carrier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0632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9FA"/>
                </a:solidFill>
                <a:latin typeface="Calibri"/>
              </a:rPr>
              <a:t>Runtime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3192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RpcCarrierStatus, RpcCarrierNumberStatus, etc.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6576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9FA"/>
                </a:solidFill>
                <a:latin typeface="Calibri"/>
              </a:rPr>
              <a:t>Laud Networks CLI (Python)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9136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Subcomandos por pallet · interactúa con extrínsecos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2519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9FA"/>
                </a:solidFill>
                <a:latin typeface="Calibri"/>
              </a:rPr>
              <a:t>Substrate clients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5079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subxt (Rust), polkadot-api (TS), polkadot.js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8463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9FA"/>
                </a:solidFill>
                <a:latin typeface="Calibri"/>
              </a:rPr>
              <a:t>Off-chain workers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10235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Para escaneo de señal, oráculos firmados, indexers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4406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8F9FA"/>
                </a:solidFill>
                <a:latin typeface="Calibri"/>
              </a:rPr>
              <a:t>Inherents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69671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device-scanner provee inherent a nivel de bloque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7F00"/>
                </a:solidFill>
                <a:latin typeface="Calibri"/>
              </a:rPr>
              <a:t>USO · OPERADOR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9FA"/>
                </a:solidFill>
                <a:latin typeface="Calibri"/>
              </a:rPr>
              <a:t>Desplegar como operador móvil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2D0"/>
                </a:solidFill>
                <a:latin typeface="Calibri"/>
              </a:rPr>
              <a:t>Pasos para conectar un mobile core real al estado on-chain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635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7AYchain · Proof of Presence L1 · v0.9.7 Native Carrier Devnet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20 /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11091672" cy="804672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09728" cy="80467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01168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07568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F1A2E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965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8F9FA"/>
                </a:solidFill>
                <a:latin typeface="Calibri"/>
              </a:rPr>
              <a:t>Provisión de nodos PoP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2677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C2D0"/>
                </a:solidFill>
                <a:latin typeface="Calibri"/>
              </a:rPr>
              <a:t>Desplegar ≥ 3 validators en la región objetivo. Si son nodos comunitarios, vincularlos via governance.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697480"/>
            <a:ext cx="11091672" cy="804672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697480"/>
            <a:ext cx="109728" cy="804672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288036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94436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F1A2E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8F9FA"/>
                </a:solidFill>
                <a:latin typeface="Calibri"/>
              </a:rPr>
              <a:t>Registrar service node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1363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C2D0"/>
                </a:solidFill>
                <a:latin typeface="Calibri"/>
              </a:rPr>
              <a:t>register_service_node + update_service_regions definen la cobertura regional declarada.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566160"/>
            <a:ext cx="11091672" cy="804672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566160"/>
            <a:ext cx="109728" cy="804672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374904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81304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F1A2E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703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8F9FA"/>
                </a:solidFill>
                <a:latin typeface="Calibri"/>
              </a:rPr>
              <a:t>Levantar carrier bridge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0050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C2D0"/>
                </a:solidFill>
                <a:latin typeface="Calibri"/>
              </a:rPr>
              <a:t>Indexer que suscribe a eventos chain y mantiene tabla de attach leases activos en memoria.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434840"/>
            <a:ext cx="11091672" cy="804672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434840"/>
            <a:ext cx="109728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461772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68172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F1A2E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572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8F9FA"/>
                </a:solidFill>
                <a:latin typeface="Calibri"/>
              </a:rPr>
              <a:t>Integrar mobile 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48737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C2D0"/>
                </a:solidFill>
                <a:latin typeface="Calibri"/>
              </a:rPr>
              <a:t>Asterisk / Kamailio / IMS consultan al bridge antes de admitir attach o establecer sesión.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303520"/>
            <a:ext cx="11091672" cy="804672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303520"/>
            <a:ext cx="109728" cy="80467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0" y="54864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55040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F1A2E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5440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8F9FA"/>
                </a:solidFill>
                <a:latin typeface="Calibri"/>
              </a:rPr>
              <a:t>Provisionar subscribers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57424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C2D0"/>
                </a:solidFill>
                <a:latin typeface="Calibri"/>
              </a:rPr>
              <a:t>Vía SM-DP+ mock (devnet) o SM-DP+ real (producción) — genera QR de eSIM ligado a un NumberId.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7F00"/>
                </a:solidFill>
                <a:latin typeface="Calibri"/>
              </a:rPr>
              <a:t>CASOS DE USO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9FA"/>
                </a:solidFill>
                <a:latin typeface="Calibri"/>
              </a:rPr>
              <a:t>Aplicaciones reales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2D0"/>
                </a:solidFill>
                <a:latin typeface="Calibri"/>
              </a:rPr>
              <a:t>Dónde 7AYchain ya tiene tracción de diseño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635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7AYchain · Proof of Presence L1 · v0.9.7 Native Carrier Devnet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21 /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3657600" cy="91440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148840"/>
            <a:ext cx="777240" cy="411480"/>
          </a:xfrm>
          <a:prstGeom prst="roundRect">
            <a:avLst>
              <a:gd name="adj" fmla="val 8000"/>
            </a:avLst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19456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A2E"/>
                </a:solidFill>
                <a:latin typeface="Calibri"/>
              </a:rPr>
              <a:t>MVNO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1945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9FA"/>
                </a:solidFill>
                <a:latin typeface="Calibri"/>
              </a:rPr>
              <a:t>MVNO descentralizado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9748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Cooperativa o comunidad puede operar como MVNO sin contratar SIM kits a un mayorista central. Validators amigos comparten la trust layer.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0248" y="182880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248" y="1828800"/>
            <a:ext cx="3657600" cy="91440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44568" y="2148840"/>
            <a:ext cx="777240" cy="411480"/>
          </a:xfrm>
          <a:prstGeom prst="roundRect">
            <a:avLst>
              <a:gd name="adj" fmla="val 8000"/>
            </a:avLst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219456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A2E"/>
                </a:solidFill>
                <a:latin typeface="Calibri"/>
              </a:rPr>
              <a:t>MESH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21945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9FA"/>
                </a:solidFill>
                <a:latin typeface="Calibri"/>
              </a:rPr>
              <a:t>Cobertura rural / mesh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269748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Pueblos sin coverage incumbent despliegan service nodes propios. El handset ve servicio nativo, el plano de control vive on-chain.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1856" y="182880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1856" y="1828800"/>
            <a:ext cx="3657600" cy="91440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66176" y="2148840"/>
            <a:ext cx="777240" cy="411480"/>
          </a:xfrm>
          <a:prstGeom prst="roundRect">
            <a:avLst>
              <a:gd name="adj" fmla="val 8000"/>
            </a:avLst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6" y="219456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A2E"/>
                </a:solidFill>
                <a:latin typeface="Calibri"/>
              </a:rPr>
              <a:t>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856" y="21945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9FA"/>
                </a:solidFill>
                <a:latin typeface="Calibri"/>
              </a:rPr>
              <a:t>Portabilidad transfronteriza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6" y="269748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Refugiados, nómadas, expatriados: número de teléfono ligado a la identidad, no al país. Recovery on-chain, sin hotline.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02336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023360"/>
            <a:ext cx="3657600" cy="91440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4343400"/>
            <a:ext cx="777240" cy="411480"/>
          </a:xfrm>
          <a:prstGeom prst="roundRect">
            <a:avLst>
              <a:gd name="adj" fmla="val 8000"/>
            </a:avLst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38912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A2E"/>
                </a:solidFill>
                <a:latin typeface="Calibri"/>
              </a:rPr>
              <a:t>IoT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43891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9FA"/>
                </a:solidFill>
                <a:latin typeface="Calibri"/>
              </a:rPr>
              <a:t>IoT con identidad fuerte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89204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Dispositivos M2M con identidad commit-reveal y rotación de claves automática. Resistente a cloning.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70248" y="402336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70248" y="4023360"/>
            <a:ext cx="3657600" cy="91440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544568" y="4343400"/>
            <a:ext cx="777240" cy="411480"/>
          </a:xfrm>
          <a:prstGeom prst="roundRect">
            <a:avLst>
              <a:gd name="adj" fmla="val 8000"/>
            </a:avLst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44568" y="438912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A2E"/>
                </a:solidFill>
                <a:latin typeface="Calibri"/>
              </a:rPr>
              <a:t>FRAUD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13248" y="43891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9FA"/>
                </a:solidFill>
                <a:latin typeface="Calibri"/>
              </a:rPr>
              <a:t>Anti-fraude colaborativo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4568" y="489204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Múltiples operadores comparten señales de fraude on-chain. Evidence rewards incentivan reporte temprano.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91856" y="402336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91856" y="4023360"/>
            <a:ext cx="3657600" cy="91440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66176" y="4343400"/>
            <a:ext cx="777240" cy="411480"/>
          </a:xfrm>
          <a:prstGeom prst="roundRect">
            <a:avLst>
              <a:gd name="adj" fmla="val 8000"/>
            </a:avLst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66176" y="438912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1A2E"/>
                </a:solidFill>
                <a:latin typeface="Calibri"/>
              </a:rPr>
              <a:t>MNVO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34856" y="43891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9FA"/>
                </a:solidFill>
                <a:latin typeface="Calibri"/>
              </a:rPr>
              <a:t>Operador soberano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66176" y="489204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2D0"/>
                </a:solidFill>
                <a:latin typeface="Calibri"/>
              </a:rPr>
              <a:t>Estado/región puede operar plano de control propio sin depender de stack telco extranjero, manteniendo interoperabilidad.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7F00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9FA"/>
                </a:solidFill>
                <a:latin typeface="Calibri"/>
              </a:rPr>
              <a:t>Evolución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2D0"/>
                </a:solidFill>
                <a:latin typeface="Calibri"/>
              </a:rPr>
              <a:t>Versiones y entregables principales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635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7AYchain · Proof of Presence L1 · v0.9.7 Native Carrier Devnet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22 /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91672" cy="420624"/>
          </a:xfrm>
          <a:prstGeom prst="rect">
            <a:avLst/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371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 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91109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8F9FA"/>
                </a:solidFill>
                <a:latin typeface="Calibri"/>
              </a:rPr>
              <a:t>v0.8.x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92024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8C2D0"/>
                </a:solidFill>
                <a:latin typeface="Calibri"/>
              </a:rPr>
              <a:t>Hardening de protocolo · primitivas criptográficas · refactor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295144"/>
            <a:ext cx="11091672" cy="420624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295144"/>
            <a:ext cx="1371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3865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377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8F9FA"/>
                </a:solidFill>
                <a:latin typeface="Calibri"/>
              </a:rPr>
              <a:t>v0.9.0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386584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8C2D0"/>
                </a:solidFill>
                <a:latin typeface="Calibri"/>
              </a:rPr>
              <a:t>Foundation Complete · 16 pallets + 78 invariantes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761488"/>
            <a:ext cx="11091672" cy="420624"/>
          </a:xfrm>
          <a:prstGeom prst="rect">
            <a:avLst/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761488"/>
            <a:ext cx="1371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85292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  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284378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8F9FA"/>
                </a:solidFill>
                <a:latin typeface="Calibri"/>
              </a:rPr>
              <a:t>v0.9.1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85292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8C2D0"/>
                </a:solidFill>
                <a:latin typeface="Calibri"/>
              </a:rPr>
              <a:t>Crypto Hardening · NIST dual-hash · VRF randomness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227832"/>
            <a:ext cx="11091672" cy="420624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227832"/>
            <a:ext cx="1371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3192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  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3101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8F9FA"/>
                </a:solidFill>
                <a:latin typeface="Calibri"/>
              </a:rPr>
              <a:t>v0.9.2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31927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8C2D0"/>
                </a:solidFill>
                <a:latin typeface="Calibri"/>
              </a:rPr>
              <a:t>Stable2509 Foundation · Polkadot SDK upgrade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694176"/>
            <a:ext cx="11091672" cy="420624"/>
          </a:xfrm>
          <a:prstGeom prst="rect">
            <a:avLst/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694176"/>
            <a:ext cx="137160" cy="420624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78561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7F00"/>
                </a:solidFill>
                <a:latin typeface="Calibri"/>
              </a:rPr>
              <a:t> 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7764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8F9FA"/>
                </a:solidFill>
                <a:latin typeface="Calibri"/>
              </a:rPr>
              <a:t>v0.9.3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785616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8C2D0"/>
                </a:solidFill>
                <a:latin typeface="Calibri"/>
              </a:rPr>
              <a:t>Real Device Devnet · external scan bridge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160520"/>
            <a:ext cx="11091672" cy="420624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160520"/>
            <a:ext cx="137160" cy="420624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2519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7F00"/>
                </a:solidFill>
                <a:latin typeface="Calibri"/>
              </a:rPr>
              <a:t> 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424281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8F9FA"/>
                </a:solidFill>
                <a:latin typeface="Calibri"/>
              </a:rPr>
              <a:t>v0.9.5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425196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8C2D0"/>
                </a:solidFill>
                <a:latin typeface="Calibri"/>
              </a:rPr>
              <a:t>Security Planning Mode · plantillas de cambio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626864"/>
            <a:ext cx="11091672" cy="420624"/>
          </a:xfrm>
          <a:prstGeom prst="rect">
            <a:avLst/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4626864"/>
            <a:ext cx="137160" cy="420624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4718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7F00"/>
                </a:solidFill>
                <a:latin typeface="Calibri"/>
              </a:rPr>
              <a:t> 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47091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8F9FA"/>
                </a:solidFill>
                <a:latin typeface="Calibri"/>
              </a:rPr>
              <a:t>v0.9.7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4718304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8C2D0"/>
                </a:solidFill>
                <a:latin typeface="Calibri"/>
              </a:rPr>
              <a:t>Native Carrier Devnet · iPhone attach real ← TARGET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093208"/>
            <a:ext cx="11091672" cy="420624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5093208"/>
            <a:ext cx="137160" cy="420624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1846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B7A90"/>
                </a:solidFill>
                <a:latin typeface="Calibri"/>
              </a:rPr>
              <a:t>  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517550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8F9FA"/>
                </a:solidFill>
                <a:latin typeface="Calibri"/>
              </a:rPr>
              <a:t>v1.0.0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51846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8C2D0"/>
                </a:solidFill>
                <a:latin typeface="Calibri"/>
              </a:rPr>
              <a:t>Mainnet · invariantes carrier formalizadas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559552"/>
            <a:ext cx="11091672" cy="420624"/>
          </a:xfrm>
          <a:prstGeom prst="rect">
            <a:avLst/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8640" y="5559552"/>
            <a:ext cx="137160" cy="420624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65099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B7A90"/>
                </a:solidFill>
                <a:latin typeface="Calibri"/>
              </a:rPr>
              <a:t>  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88720" y="56418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8F9FA"/>
                </a:solidFill>
                <a:latin typeface="Calibri"/>
              </a:rPr>
              <a:t>v2.0.0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0" y="56509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B8C2D0"/>
                </a:solidFill>
                <a:latin typeface="Calibri"/>
              </a:rPr>
              <a:t>Re-introducción de ZK proofs (Groth16/Plonk) · privacy layer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080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2D0"/>
                </a:solidFill>
                <a:latin typeface="Calibri"/>
              </a:rPr>
              <a:t>✓ completado     ◐ en progreso     ○ futuro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7F00"/>
                </a:solidFill>
                <a:latin typeface="Calibri"/>
              </a:rPr>
              <a:t>DEFINITION OF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F9FA"/>
                </a:solidFill>
                <a:latin typeface="Calibri"/>
              </a:rPr>
              <a:t>Criterios de aceptación v0.9.7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2D0"/>
                </a:solidFill>
                <a:latin typeface="Calibri"/>
              </a:rPr>
              <a:t>Cuándo consideramos que el release está completo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635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  <a:latin typeface="Calibri"/>
              </a:rPr>
              <a:t>7AYchain · Proof of Presence L1 · v0.9.7 Native Carrier Devnet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A90"/>
                </a:solidFill>
                <a:latin typeface="Calibri"/>
              </a:rPr>
              <a:t>23 /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91672" cy="59436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109728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057400"/>
            <a:ext cx="411480" cy="32004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08483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F1A2E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0848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F8F9FA"/>
                </a:solidFill>
                <a:latin typeface="Calibri"/>
              </a:rPr>
              <a:t>Un subscriber puede registrarse on-chain con binding de device y número.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06040"/>
            <a:ext cx="11091672" cy="59436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06040"/>
            <a:ext cx="109728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2743200"/>
            <a:ext cx="411480" cy="32004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77063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F1A2E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7706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F8F9FA"/>
                </a:solidFill>
                <a:latin typeface="Calibri"/>
              </a:rPr>
              <a:t>La activación de servicio depende de PoP consensuado, no de un override admin.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91840"/>
            <a:ext cx="11091672" cy="59436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291840"/>
            <a:ext cx="109728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3429000"/>
            <a:ext cx="411480" cy="32004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45643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F1A2E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4564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F8F9FA"/>
                </a:solidFill>
                <a:latin typeface="Calibri"/>
              </a:rPr>
              <a:t>Un telecom bridge deriva attach authorization desde el estado on-chain.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77640"/>
            <a:ext cx="11091672" cy="59436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977640"/>
            <a:ext cx="109728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" y="4114800"/>
            <a:ext cx="411480" cy="32004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14223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F1A2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1422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F8F9FA"/>
                </a:solidFill>
                <a:latin typeface="Calibri"/>
              </a:rPr>
              <a:t>El devnet expone estado real 7AY a un handset vía infraestructura carrier nativa.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663440"/>
            <a:ext cx="11091672" cy="59436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663440"/>
            <a:ext cx="109728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4800600"/>
            <a:ext cx="411480" cy="32004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82803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F1A2E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48280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F8F9FA"/>
                </a:solidFill>
                <a:latin typeface="Calibri"/>
              </a:rPr>
              <a:t>Un iPhone (u otro device soportado) observa servicio nativo asociado a un número 7AY.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349240"/>
            <a:ext cx="11091672" cy="59436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349240"/>
            <a:ext cx="109728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2960" y="5486400"/>
            <a:ext cx="411480" cy="32004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51383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F1A2E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55138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F8F9FA"/>
                </a:solidFill>
                <a:latin typeface="Calibri"/>
              </a:rPr>
              <a:t>El devnet incluye un flujo reproducible de validación de attach y llamadas nativas.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45720" cy="6858000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8F9FA"/>
                </a:solidFill>
                <a:latin typeface="Calibri"/>
              </a:rPr>
              <a:t>Hacer presencia verificable.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F77F00"/>
                </a:solidFill>
                <a:latin typeface="Calibri"/>
              </a:rPr>
              <a:t>Hacer servicio telco descentralizado.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349240" cy="100584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749039"/>
            <a:ext cx="109728" cy="100584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913631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7F00"/>
                </a:solidFill>
                <a:latin typeface="Calibri"/>
              </a:rPr>
              <a:t>Repositorio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251959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8F9FA"/>
                </a:solidFill>
                <a:latin typeface="Consolas"/>
              </a:rPr>
              <a:t>github.com/7ayLabs/7aychain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749039"/>
            <a:ext cx="5349240" cy="100584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3749039"/>
            <a:ext cx="109728" cy="1005840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913631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A77D"/>
                </a:solidFill>
                <a:latin typeface="Calibri"/>
              </a:rPr>
              <a:t>Web institucional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51959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8F9FA"/>
                </a:solidFill>
                <a:latin typeface="Consolas"/>
              </a:rPr>
              <a:t>7aylabs.com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92039"/>
            <a:ext cx="5349240" cy="100584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892039"/>
            <a:ext cx="109728" cy="10058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056631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CC9F0"/>
                </a:solidFill>
                <a:latin typeface="Calibri"/>
              </a:rPr>
              <a:t>Release spec v0.9.7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394959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8F9FA"/>
                </a:solidFill>
                <a:latin typeface="Consolas"/>
              </a:rPr>
              <a:t>docs/releases/v0.9.7/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892039"/>
            <a:ext cx="5349240" cy="1005840"/>
          </a:xfrm>
          <a:prstGeom prst="roundRect">
            <a:avLst>
              <a:gd name="adj" fmla="val 8000"/>
            </a:avLst>
          </a:prstGeom>
          <a:solidFill>
            <a:srgbClr val="18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4892039"/>
            <a:ext cx="109728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5056631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Licencia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394959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8F9FA"/>
                </a:solidFill>
                <a:latin typeface="Consolas"/>
              </a:rPr>
              <a:t>BUSL-1.1 (uso comercial bajo condición)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Calibri"/>
              </a:rPr>
              <a:t>7ay Labs · 2026  ·  Gracias.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